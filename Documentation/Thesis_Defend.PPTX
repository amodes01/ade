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sldIdLst>
    <p:sldId id="256" r:id="rId2"/>
    <p:sldId id="257" r:id="rId3"/>
    <p:sldId id="258" r:id="rId4"/>
    <p:sldId id="292" r:id="rId5"/>
    <p:sldId id="259" r:id="rId6"/>
    <p:sldId id="281" r:id="rId7"/>
    <p:sldId id="291" r:id="rId8"/>
    <p:sldId id="283" r:id="rId9"/>
    <p:sldId id="286" r:id="rId10"/>
    <p:sldId id="290" r:id="rId11"/>
    <p:sldId id="282" r:id="rId12"/>
    <p:sldId id="294" r:id="rId13"/>
    <p:sldId id="261" r:id="rId14"/>
    <p:sldId id="263" r:id="rId15"/>
    <p:sldId id="279" r:id="rId16"/>
    <p:sldId id="280" r:id="rId17"/>
    <p:sldId id="295" r:id="rId18"/>
    <p:sldId id="284" r:id="rId19"/>
    <p:sldId id="289" r:id="rId20"/>
    <p:sldId id="264" r:id="rId21"/>
    <p:sldId id="275" r:id="rId22"/>
    <p:sldId id="276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85" r:id="rId33"/>
    <p:sldId id="287" r:id="rId34"/>
    <p:sldId id="288" r:id="rId35"/>
    <p:sldId id="293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67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AD1C9E6-FAD3-47C3-B8FB-04C764464C29}" type="doc">
      <dgm:prSet loTypeId="urn:microsoft.com/office/officeart/2005/8/layout/vList5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6D37081-45DA-4624-ACBF-5B4AABDABFD5}">
      <dgm:prSet/>
      <dgm:spPr/>
      <dgm:t>
        <a:bodyPr/>
        <a:lstStyle/>
        <a:p>
          <a:r>
            <a:rPr lang="en-US" dirty="0"/>
            <a:t>Introduction</a:t>
          </a:r>
        </a:p>
      </dgm:t>
    </dgm:pt>
    <dgm:pt modelId="{7B24D107-9152-47B6-B3F5-973A6B7E94E3}" type="parTrans" cxnId="{8646AED7-6077-4205-B9DA-FF9A7BE34801}">
      <dgm:prSet/>
      <dgm:spPr/>
      <dgm:t>
        <a:bodyPr/>
        <a:lstStyle/>
        <a:p>
          <a:endParaRPr lang="en-US"/>
        </a:p>
      </dgm:t>
    </dgm:pt>
    <dgm:pt modelId="{E2B8EB05-6372-425D-8882-CF91A9505E26}" type="sibTrans" cxnId="{8646AED7-6077-4205-B9DA-FF9A7BE34801}">
      <dgm:prSet/>
      <dgm:spPr/>
      <dgm:t>
        <a:bodyPr/>
        <a:lstStyle/>
        <a:p>
          <a:endParaRPr lang="en-US"/>
        </a:p>
      </dgm:t>
    </dgm:pt>
    <dgm:pt modelId="{88CA96D5-0ECD-450A-B2E5-3C85AB228455}">
      <dgm:prSet/>
      <dgm:spPr/>
      <dgm:t>
        <a:bodyPr/>
        <a:lstStyle/>
        <a:p>
          <a:r>
            <a:rPr lang="en-US" dirty="0"/>
            <a:t>POLAR Framework</a:t>
          </a:r>
        </a:p>
      </dgm:t>
    </dgm:pt>
    <dgm:pt modelId="{56175E32-3F48-4FE4-A28A-69035E833E76}" type="parTrans" cxnId="{9BF4BBF3-2419-4830-A8CF-0B2CF38C854A}">
      <dgm:prSet/>
      <dgm:spPr/>
      <dgm:t>
        <a:bodyPr/>
        <a:lstStyle/>
        <a:p>
          <a:endParaRPr lang="en-US"/>
        </a:p>
      </dgm:t>
    </dgm:pt>
    <dgm:pt modelId="{D3C95F2F-2B1B-4982-8A23-3472E3FEFD14}" type="sibTrans" cxnId="{9BF4BBF3-2419-4830-A8CF-0B2CF38C854A}">
      <dgm:prSet/>
      <dgm:spPr/>
      <dgm:t>
        <a:bodyPr/>
        <a:lstStyle/>
        <a:p>
          <a:endParaRPr lang="en-US"/>
        </a:p>
      </dgm:t>
    </dgm:pt>
    <dgm:pt modelId="{08078E85-3288-49D4-9BD1-7D6C45ED0920}">
      <dgm:prSet/>
      <dgm:spPr/>
      <dgm:t>
        <a:bodyPr/>
        <a:lstStyle/>
        <a:p>
          <a:r>
            <a:rPr lang="en-US" dirty="0"/>
            <a:t>Implementation</a:t>
          </a:r>
        </a:p>
      </dgm:t>
    </dgm:pt>
    <dgm:pt modelId="{E0D8E988-FDC2-4570-988E-9F552F18BCB0}" type="parTrans" cxnId="{69DA0CAC-004F-41C5-BF24-BBA415E55E5C}">
      <dgm:prSet/>
      <dgm:spPr/>
      <dgm:t>
        <a:bodyPr/>
        <a:lstStyle/>
        <a:p>
          <a:endParaRPr lang="en-US"/>
        </a:p>
      </dgm:t>
    </dgm:pt>
    <dgm:pt modelId="{CAD28AFF-DED6-4033-BF34-63249E47D5DD}" type="sibTrans" cxnId="{69DA0CAC-004F-41C5-BF24-BBA415E55E5C}">
      <dgm:prSet/>
      <dgm:spPr/>
      <dgm:t>
        <a:bodyPr/>
        <a:lstStyle/>
        <a:p>
          <a:endParaRPr lang="en-US"/>
        </a:p>
      </dgm:t>
    </dgm:pt>
    <dgm:pt modelId="{6644AF87-81EB-4ADE-A7A1-CDD3CD3E7D81}">
      <dgm:prSet/>
      <dgm:spPr/>
      <dgm:t>
        <a:bodyPr/>
        <a:lstStyle/>
        <a:p>
          <a:r>
            <a:rPr lang="en-US"/>
            <a:t>Evaluation</a:t>
          </a:r>
        </a:p>
      </dgm:t>
    </dgm:pt>
    <dgm:pt modelId="{8DF13AD6-DC7B-46E4-AAC2-C96B7A827CA0}" type="parTrans" cxnId="{0536E1B1-DF47-4F81-85E7-F2D68367909F}">
      <dgm:prSet/>
      <dgm:spPr/>
      <dgm:t>
        <a:bodyPr/>
        <a:lstStyle/>
        <a:p>
          <a:endParaRPr lang="en-US"/>
        </a:p>
      </dgm:t>
    </dgm:pt>
    <dgm:pt modelId="{7BF5EA0E-4141-4445-8066-0C44ADEBB4EE}" type="sibTrans" cxnId="{0536E1B1-DF47-4F81-85E7-F2D68367909F}">
      <dgm:prSet/>
      <dgm:spPr/>
      <dgm:t>
        <a:bodyPr/>
        <a:lstStyle/>
        <a:p>
          <a:endParaRPr lang="en-US"/>
        </a:p>
      </dgm:t>
    </dgm:pt>
    <dgm:pt modelId="{648755B1-6475-41E2-935A-81A237D57064}">
      <dgm:prSet/>
      <dgm:spPr/>
      <dgm:t>
        <a:bodyPr/>
        <a:lstStyle/>
        <a:p>
          <a:r>
            <a:rPr lang="en-US"/>
            <a:t>Results &amp; Analysis</a:t>
          </a:r>
        </a:p>
      </dgm:t>
    </dgm:pt>
    <dgm:pt modelId="{19D625DA-B837-4248-BD24-8FF04DF0458A}" type="parTrans" cxnId="{88F5997C-28A9-4F27-BDC8-D3649C3B4F4D}">
      <dgm:prSet/>
      <dgm:spPr/>
      <dgm:t>
        <a:bodyPr/>
        <a:lstStyle/>
        <a:p>
          <a:endParaRPr lang="en-US"/>
        </a:p>
      </dgm:t>
    </dgm:pt>
    <dgm:pt modelId="{1101A902-A9BC-48CB-9A4C-F70D02DECEF6}" type="sibTrans" cxnId="{88F5997C-28A9-4F27-BDC8-D3649C3B4F4D}">
      <dgm:prSet/>
      <dgm:spPr/>
      <dgm:t>
        <a:bodyPr/>
        <a:lstStyle/>
        <a:p>
          <a:endParaRPr lang="en-US"/>
        </a:p>
      </dgm:t>
    </dgm:pt>
    <dgm:pt modelId="{3F70F1A0-9B42-4EFE-8FA4-C81FBFCED328}">
      <dgm:prSet/>
      <dgm:spPr/>
      <dgm:t>
        <a:bodyPr/>
        <a:lstStyle/>
        <a:p>
          <a:r>
            <a:rPr lang="en-US"/>
            <a:t>Conclusion</a:t>
          </a:r>
        </a:p>
      </dgm:t>
    </dgm:pt>
    <dgm:pt modelId="{367DA880-0BA1-42C6-AA0F-0668046EE23B}" type="parTrans" cxnId="{6F887D29-3A9D-4A0D-BB5B-21E36EA8B26B}">
      <dgm:prSet/>
      <dgm:spPr/>
      <dgm:t>
        <a:bodyPr/>
        <a:lstStyle/>
        <a:p>
          <a:endParaRPr lang="en-US"/>
        </a:p>
      </dgm:t>
    </dgm:pt>
    <dgm:pt modelId="{6E5BB2E8-C60E-45A6-8703-434F469ECE11}" type="sibTrans" cxnId="{6F887D29-3A9D-4A0D-BB5B-21E36EA8B26B}">
      <dgm:prSet/>
      <dgm:spPr/>
      <dgm:t>
        <a:bodyPr/>
        <a:lstStyle/>
        <a:p>
          <a:endParaRPr lang="en-US"/>
        </a:p>
      </dgm:t>
    </dgm:pt>
    <dgm:pt modelId="{B4E11199-5A33-42DC-9939-903A99FD9F5E}">
      <dgm:prSet/>
      <dgm:spPr/>
      <dgm:t>
        <a:bodyPr/>
        <a:lstStyle/>
        <a:p>
          <a:r>
            <a:rPr lang="en-US"/>
            <a:t>Future Work</a:t>
          </a:r>
        </a:p>
      </dgm:t>
    </dgm:pt>
    <dgm:pt modelId="{D02B4790-FC66-4523-8E55-A632FBE177DC}" type="parTrans" cxnId="{4273C197-5E21-4E60-B128-58183F2D30FF}">
      <dgm:prSet/>
      <dgm:spPr/>
      <dgm:t>
        <a:bodyPr/>
        <a:lstStyle/>
        <a:p>
          <a:endParaRPr lang="en-US"/>
        </a:p>
      </dgm:t>
    </dgm:pt>
    <dgm:pt modelId="{813AA932-C177-4E59-B659-F64B861CBC4A}" type="sibTrans" cxnId="{4273C197-5E21-4E60-B128-58183F2D30FF}">
      <dgm:prSet/>
      <dgm:spPr/>
      <dgm:t>
        <a:bodyPr/>
        <a:lstStyle/>
        <a:p>
          <a:endParaRPr lang="en-US"/>
        </a:p>
      </dgm:t>
    </dgm:pt>
    <dgm:pt modelId="{D044E51A-9B4A-43FC-A95E-9FB28B890A6A}">
      <dgm:prSet/>
      <dgm:spPr/>
      <dgm:t>
        <a:bodyPr/>
        <a:lstStyle/>
        <a:p>
          <a:r>
            <a:rPr lang="en-US" dirty="0"/>
            <a:t>Large Language Models</a:t>
          </a:r>
        </a:p>
      </dgm:t>
    </dgm:pt>
    <dgm:pt modelId="{194B84AC-1381-4AB6-8306-1CFADAF7634E}" type="sibTrans" cxnId="{2EF51232-940C-44C4-B6DF-5DA1D25B8119}">
      <dgm:prSet/>
      <dgm:spPr/>
      <dgm:t>
        <a:bodyPr/>
        <a:lstStyle/>
        <a:p>
          <a:endParaRPr lang="en-US"/>
        </a:p>
      </dgm:t>
    </dgm:pt>
    <dgm:pt modelId="{C7B7CA0B-A671-4E08-8BE5-2CF3C5A2523E}" type="parTrans" cxnId="{2EF51232-940C-44C4-B6DF-5DA1D25B8119}">
      <dgm:prSet/>
      <dgm:spPr/>
      <dgm:t>
        <a:bodyPr/>
        <a:lstStyle/>
        <a:p>
          <a:endParaRPr lang="en-US"/>
        </a:p>
      </dgm:t>
    </dgm:pt>
    <dgm:pt modelId="{7C1A1444-16FD-4228-8A13-24F7854DC7DA}">
      <dgm:prSet/>
      <dgm:spPr/>
      <dgm:t>
        <a:bodyPr/>
        <a:lstStyle/>
        <a:p>
          <a:r>
            <a:rPr lang="en-US" dirty="0"/>
            <a:t>Objectives</a:t>
          </a:r>
        </a:p>
      </dgm:t>
    </dgm:pt>
    <dgm:pt modelId="{3BCAE110-3A9B-4825-88F0-3675F2AC3AEC}" type="parTrans" cxnId="{2CE9FECF-31A1-4521-B4B0-23516FB6B729}">
      <dgm:prSet/>
      <dgm:spPr/>
      <dgm:t>
        <a:bodyPr/>
        <a:lstStyle/>
        <a:p>
          <a:endParaRPr lang="en-US"/>
        </a:p>
      </dgm:t>
    </dgm:pt>
    <dgm:pt modelId="{D1415C7D-46D2-4404-9C65-5BB01F490124}" type="sibTrans" cxnId="{2CE9FECF-31A1-4521-B4B0-23516FB6B729}">
      <dgm:prSet/>
      <dgm:spPr/>
      <dgm:t>
        <a:bodyPr/>
        <a:lstStyle/>
        <a:p>
          <a:endParaRPr lang="en-US"/>
        </a:p>
      </dgm:t>
    </dgm:pt>
    <dgm:pt modelId="{648AEBD6-AC80-4A10-A710-57859C1BCCD5}" type="pres">
      <dgm:prSet presAssocID="{DAD1C9E6-FAD3-47C3-B8FB-04C764464C29}" presName="Name0" presStyleCnt="0">
        <dgm:presLayoutVars>
          <dgm:dir/>
          <dgm:animLvl val="lvl"/>
          <dgm:resizeHandles val="exact"/>
        </dgm:presLayoutVars>
      </dgm:prSet>
      <dgm:spPr/>
    </dgm:pt>
    <dgm:pt modelId="{1480FA36-C394-4ED5-BD41-CEE641BE8DAF}" type="pres">
      <dgm:prSet presAssocID="{06D37081-45DA-4624-ACBF-5B4AABDABFD5}" presName="linNode" presStyleCnt="0"/>
      <dgm:spPr/>
    </dgm:pt>
    <dgm:pt modelId="{ABCF3414-B420-408B-98C2-635053F091F0}" type="pres">
      <dgm:prSet presAssocID="{06D37081-45DA-4624-ACBF-5B4AABDABFD5}" presName="parentText" presStyleLbl="node1" presStyleIdx="0" presStyleCnt="9">
        <dgm:presLayoutVars>
          <dgm:chMax val="1"/>
          <dgm:bulletEnabled val="1"/>
        </dgm:presLayoutVars>
      </dgm:prSet>
      <dgm:spPr/>
    </dgm:pt>
    <dgm:pt modelId="{DDEE0D5D-8AEA-4BC1-AB36-7481D9173B6E}" type="pres">
      <dgm:prSet presAssocID="{E2B8EB05-6372-425D-8882-CF91A9505E26}" presName="sp" presStyleCnt="0"/>
      <dgm:spPr/>
    </dgm:pt>
    <dgm:pt modelId="{7B9D258B-0171-43D6-87DE-ACF9EE617367}" type="pres">
      <dgm:prSet presAssocID="{88CA96D5-0ECD-450A-B2E5-3C85AB228455}" presName="linNode" presStyleCnt="0"/>
      <dgm:spPr/>
    </dgm:pt>
    <dgm:pt modelId="{D298E97B-1053-435B-B844-E182EA94393F}" type="pres">
      <dgm:prSet presAssocID="{88CA96D5-0ECD-450A-B2E5-3C85AB228455}" presName="parentText" presStyleLbl="node1" presStyleIdx="1" presStyleCnt="9">
        <dgm:presLayoutVars>
          <dgm:chMax val="1"/>
          <dgm:bulletEnabled val="1"/>
        </dgm:presLayoutVars>
      </dgm:prSet>
      <dgm:spPr/>
    </dgm:pt>
    <dgm:pt modelId="{6B428D1D-610F-4BC8-AFD1-7AC26B51B150}" type="pres">
      <dgm:prSet presAssocID="{D3C95F2F-2B1B-4982-8A23-3472E3FEFD14}" presName="sp" presStyleCnt="0"/>
      <dgm:spPr/>
    </dgm:pt>
    <dgm:pt modelId="{0765A09F-5826-4C45-AA9F-8EEDE92275AE}" type="pres">
      <dgm:prSet presAssocID="{7C1A1444-16FD-4228-8A13-24F7854DC7DA}" presName="linNode" presStyleCnt="0"/>
      <dgm:spPr/>
    </dgm:pt>
    <dgm:pt modelId="{D29DD54E-9758-43A1-BD48-9F6A5592C825}" type="pres">
      <dgm:prSet presAssocID="{7C1A1444-16FD-4228-8A13-24F7854DC7DA}" presName="parentText" presStyleLbl="node1" presStyleIdx="2" presStyleCnt="9">
        <dgm:presLayoutVars>
          <dgm:chMax val="1"/>
          <dgm:bulletEnabled val="1"/>
        </dgm:presLayoutVars>
      </dgm:prSet>
      <dgm:spPr/>
    </dgm:pt>
    <dgm:pt modelId="{CD8589CD-EFC2-46A8-8BF9-68D24C4D6FA5}" type="pres">
      <dgm:prSet presAssocID="{D1415C7D-46D2-4404-9C65-5BB01F490124}" presName="sp" presStyleCnt="0"/>
      <dgm:spPr/>
    </dgm:pt>
    <dgm:pt modelId="{2F0D98B7-D3A8-4955-9446-3C65ED446703}" type="pres">
      <dgm:prSet presAssocID="{D044E51A-9B4A-43FC-A95E-9FB28B890A6A}" presName="linNode" presStyleCnt="0"/>
      <dgm:spPr/>
    </dgm:pt>
    <dgm:pt modelId="{42FCB565-2F8B-4597-8865-4F997E6E3587}" type="pres">
      <dgm:prSet presAssocID="{D044E51A-9B4A-43FC-A95E-9FB28B890A6A}" presName="parentText" presStyleLbl="node1" presStyleIdx="3" presStyleCnt="9">
        <dgm:presLayoutVars>
          <dgm:chMax val="1"/>
          <dgm:bulletEnabled val="1"/>
        </dgm:presLayoutVars>
      </dgm:prSet>
      <dgm:spPr/>
    </dgm:pt>
    <dgm:pt modelId="{E7417E10-4266-4E80-B50B-D46C985CDD8D}" type="pres">
      <dgm:prSet presAssocID="{194B84AC-1381-4AB6-8306-1CFADAF7634E}" presName="sp" presStyleCnt="0"/>
      <dgm:spPr/>
    </dgm:pt>
    <dgm:pt modelId="{92521C04-8CF3-4253-ACF9-C561B80FFBC1}" type="pres">
      <dgm:prSet presAssocID="{08078E85-3288-49D4-9BD1-7D6C45ED0920}" presName="linNode" presStyleCnt="0"/>
      <dgm:spPr/>
    </dgm:pt>
    <dgm:pt modelId="{75C6D2BB-6ED7-405C-B450-5E4D169A4AAB}" type="pres">
      <dgm:prSet presAssocID="{08078E85-3288-49D4-9BD1-7D6C45ED0920}" presName="parentText" presStyleLbl="node1" presStyleIdx="4" presStyleCnt="9">
        <dgm:presLayoutVars>
          <dgm:chMax val="1"/>
          <dgm:bulletEnabled val="1"/>
        </dgm:presLayoutVars>
      </dgm:prSet>
      <dgm:spPr/>
    </dgm:pt>
    <dgm:pt modelId="{87A5F714-D02C-46AF-B470-42B979D13B9A}" type="pres">
      <dgm:prSet presAssocID="{CAD28AFF-DED6-4033-BF34-63249E47D5DD}" presName="sp" presStyleCnt="0"/>
      <dgm:spPr/>
    </dgm:pt>
    <dgm:pt modelId="{26658E3B-A10D-4C7F-88D3-C93D185AED90}" type="pres">
      <dgm:prSet presAssocID="{6644AF87-81EB-4ADE-A7A1-CDD3CD3E7D81}" presName="linNode" presStyleCnt="0"/>
      <dgm:spPr/>
    </dgm:pt>
    <dgm:pt modelId="{14A9FA02-BF86-4705-B0EC-E727E4AF3F7C}" type="pres">
      <dgm:prSet presAssocID="{6644AF87-81EB-4ADE-A7A1-CDD3CD3E7D81}" presName="parentText" presStyleLbl="node1" presStyleIdx="5" presStyleCnt="9">
        <dgm:presLayoutVars>
          <dgm:chMax val="1"/>
          <dgm:bulletEnabled val="1"/>
        </dgm:presLayoutVars>
      </dgm:prSet>
      <dgm:spPr/>
    </dgm:pt>
    <dgm:pt modelId="{A5953A82-1DFA-4845-B2EE-75B04246F1B6}" type="pres">
      <dgm:prSet presAssocID="{7BF5EA0E-4141-4445-8066-0C44ADEBB4EE}" presName="sp" presStyleCnt="0"/>
      <dgm:spPr/>
    </dgm:pt>
    <dgm:pt modelId="{6349597E-BB79-4C10-ABE3-E9B5D2FC4527}" type="pres">
      <dgm:prSet presAssocID="{648755B1-6475-41E2-935A-81A237D57064}" presName="linNode" presStyleCnt="0"/>
      <dgm:spPr/>
    </dgm:pt>
    <dgm:pt modelId="{4EBC644D-07DE-4C58-B645-68DF093DA4FC}" type="pres">
      <dgm:prSet presAssocID="{648755B1-6475-41E2-935A-81A237D57064}" presName="parentText" presStyleLbl="node1" presStyleIdx="6" presStyleCnt="9">
        <dgm:presLayoutVars>
          <dgm:chMax val="1"/>
          <dgm:bulletEnabled val="1"/>
        </dgm:presLayoutVars>
      </dgm:prSet>
      <dgm:spPr/>
    </dgm:pt>
    <dgm:pt modelId="{F98477EF-73B4-4A79-BAAD-CA5ED9487C5C}" type="pres">
      <dgm:prSet presAssocID="{1101A902-A9BC-48CB-9A4C-F70D02DECEF6}" presName="sp" presStyleCnt="0"/>
      <dgm:spPr/>
    </dgm:pt>
    <dgm:pt modelId="{A2D90FC9-264F-4CF2-9F24-AF3A2B12C6AA}" type="pres">
      <dgm:prSet presAssocID="{3F70F1A0-9B42-4EFE-8FA4-C81FBFCED328}" presName="linNode" presStyleCnt="0"/>
      <dgm:spPr/>
    </dgm:pt>
    <dgm:pt modelId="{59F362CD-5718-4BF2-83B5-F50E914A976D}" type="pres">
      <dgm:prSet presAssocID="{3F70F1A0-9B42-4EFE-8FA4-C81FBFCED328}" presName="parentText" presStyleLbl="node1" presStyleIdx="7" presStyleCnt="9">
        <dgm:presLayoutVars>
          <dgm:chMax val="1"/>
          <dgm:bulletEnabled val="1"/>
        </dgm:presLayoutVars>
      </dgm:prSet>
      <dgm:spPr/>
    </dgm:pt>
    <dgm:pt modelId="{03FEB88D-B1F9-4FDF-885A-CFBF8802A2DF}" type="pres">
      <dgm:prSet presAssocID="{6E5BB2E8-C60E-45A6-8703-434F469ECE11}" presName="sp" presStyleCnt="0"/>
      <dgm:spPr/>
    </dgm:pt>
    <dgm:pt modelId="{941BBBF8-BBDE-48A3-A9D0-BBD046A846EB}" type="pres">
      <dgm:prSet presAssocID="{B4E11199-5A33-42DC-9939-903A99FD9F5E}" presName="linNode" presStyleCnt="0"/>
      <dgm:spPr/>
    </dgm:pt>
    <dgm:pt modelId="{048554EF-614D-429F-841D-BF474718886B}" type="pres">
      <dgm:prSet presAssocID="{B4E11199-5A33-42DC-9939-903A99FD9F5E}" presName="parentText" presStyleLbl="node1" presStyleIdx="8" presStyleCnt="9">
        <dgm:presLayoutVars>
          <dgm:chMax val="1"/>
          <dgm:bulletEnabled val="1"/>
        </dgm:presLayoutVars>
      </dgm:prSet>
      <dgm:spPr/>
    </dgm:pt>
  </dgm:ptLst>
  <dgm:cxnLst>
    <dgm:cxn modelId="{A8E92D0C-2A24-4F1F-8382-50A932C70CFC}" type="presOf" srcId="{B4E11199-5A33-42DC-9939-903A99FD9F5E}" destId="{048554EF-614D-429F-841D-BF474718886B}" srcOrd="0" destOrd="0" presId="urn:microsoft.com/office/officeart/2005/8/layout/vList5"/>
    <dgm:cxn modelId="{97D17118-B06D-44BA-B510-4D8F9E5C8601}" type="presOf" srcId="{648755B1-6475-41E2-935A-81A237D57064}" destId="{4EBC644D-07DE-4C58-B645-68DF093DA4FC}" srcOrd="0" destOrd="0" presId="urn:microsoft.com/office/officeart/2005/8/layout/vList5"/>
    <dgm:cxn modelId="{6F887D29-3A9D-4A0D-BB5B-21E36EA8B26B}" srcId="{DAD1C9E6-FAD3-47C3-B8FB-04C764464C29}" destId="{3F70F1A0-9B42-4EFE-8FA4-C81FBFCED328}" srcOrd="7" destOrd="0" parTransId="{367DA880-0BA1-42C6-AA0F-0668046EE23B}" sibTransId="{6E5BB2E8-C60E-45A6-8703-434F469ECE11}"/>
    <dgm:cxn modelId="{B870222B-0E95-4FE6-9C20-4ED40C7D3A6A}" type="presOf" srcId="{DAD1C9E6-FAD3-47C3-B8FB-04C764464C29}" destId="{648AEBD6-AC80-4A10-A710-57859C1BCCD5}" srcOrd="0" destOrd="0" presId="urn:microsoft.com/office/officeart/2005/8/layout/vList5"/>
    <dgm:cxn modelId="{E38E422C-4F80-4BB0-BF27-657D7033C4CC}" type="presOf" srcId="{6644AF87-81EB-4ADE-A7A1-CDD3CD3E7D81}" destId="{14A9FA02-BF86-4705-B0EC-E727E4AF3F7C}" srcOrd="0" destOrd="0" presId="urn:microsoft.com/office/officeart/2005/8/layout/vList5"/>
    <dgm:cxn modelId="{1A913731-06BD-4C7B-9318-5AF4EA524583}" type="presOf" srcId="{3F70F1A0-9B42-4EFE-8FA4-C81FBFCED328}" destId="{59F362CD-5718-4BF2-83B5-F50E914A976D}" srcOrd="0" destOrd="0" presId="urn:microsoft.com/office/officeart/2005/8/layout/vList5"/>
    <dgm:cxn modelId="{2EF51232-940C-44C4-B6DF-5DA1D25B8119}" srcId="{DAD1C9E6-FAD3-47C3-B8FB-04C764464C29}" destId="{D044E51A-9B4A-43FC-A95E-9FB28B890A6A}" srcOrd="3" destOrd="0" parTransId="{C7B7CA0B-A671-4E08-8BE5-2CF3C5A2523E}" sibTransId="{194B84AC-1381-4AB6-8306-1CFADAF7634E}"/>
    <dgm:cxn modelId="{C96D5C4B-4754-457A-BF22-6B8C8995C3C0}" type="presOf" srcId="{08078E85-3288-49D4-9BD1-7D6C45ED0920}" destId="{75C6D2BB-6ED7-405C-B450-5E4D169A4AAB}" srcOrd="0" destOrd="0" presId="urn:microsoft.com/office/officeart/2005/8/layout/vList5"/>
    <dgm:cxn modelId="{C5C9E54E-EB5D-44CA-A35F-31DD18879DF2}" type="presOf" srcId="{D044E51A-9B4A-43FC-A95E-9FB28B890A6A}" destId="{42FCB565-2F8B-4597-8865-4F997E6E3587}" srcOrd="0" destOrd="0" presId="urn:microsoft.com/office/officeart/2005/8/layout/vList5"/>
    <dgm:cxn modelId="{88F5997C-28A9-4F27-BDC8-D3649C3B4F4D}" srcId="{DAD1C9E6-FAD3-47C3-B8FB-04C764464C29}" destId="{648755B1-6475-41E2-935A-81A237D57064}" srcOrd="6" destOrd="0" parTransId="{19D625DA-B837-4248-BD24-8FF04DF0458A}" sibTransId="{1101A902-A9BC-48CB-9A4C-F70D02DECEF6}"/>
    <dgm:cxn modelId="{4273C197-5E21-4E60-B128-58183F2D30FF}" srcId="{DAD1C9E6-FAD3-47C3-B8FB-04C764464C29}" destId="{B4E11199-5A33-42DC-9939-903A99FD9F5E}" srcOrd="8" destOrd="0" parTransId="{D02B4790-FC66-4523-8E55-A632FBE177DC}" sibTransId="{813AA932-C177-4E59-B659-F64B861CBC4A}"/>
    <dgm:cxn modelId="{83D31AA0-FD8E-4BA7-A822-F91717C9E22A}" type="presOf" srcId="{7C1A1444-16FD-4228-8A13-24F7854DC7DA}" destId="{D29DD54E-9758-43A1-BD48-9F6A5592C825}" srcOrd="0" destOrd="0" presId="urn:microsoft.com/office/officeart/2005/8/layout/vList5"/>
    <dgm:cxn modelId="{F6BAC6AB-0196-48E1-86C8-8745C833CF5C}" type="presOf" srcId="{88CA96D5-0ECD-450A-B2E5-3C85AB228455}" destId="{D298E97B-1053-435B-B844-E182EA94393F}" srcOrd="0" destOrd="0" presId="urn:microsoft.com/office/officeart/2005/8/layout/vList5"/>
    <dgm:cxn modelId="{69DA0CAC-004F-41C5-BF24-BBA415E55E5C}" srcId="{DAD1C9E6-FAD3-47C3-B8FB-04C764464C29}" destId="{08078E85-3288-49D4-9BD1-7D6C45ED0920}" srcOrd="4" destOrd="0" parTransId="{E0D8E988-FDC2-4570-988E-9F552F18BCB0}" sibTransId="{CAD28AFF-DED6-4033-BF34-63249E47D5DD}"/>
    <dgm:cxn modelId="{0536E1B1-DF47-4F81-85E7-F2D68367909F}" srcId="{DAD1C9E6-FAD3-47C3-B8FB-04C764464C29}" destId="{6644AF87-81EB-4ADE-A7A1-CDD3CD3E7D81}" srcOrd="5" destOrd="0" parTransId="{8DF13AD6-DC7B-46E4-AAC2-C96B7A827CA0}" sibTransId="{7BF5EA0E-4141-4445-8066-0C44ADEBB4EE}"/>
    <dgm:cxn modelId="{2CE9FECF-31A1-4521-B4B0-23516FB6B729}" srcId="{DAD1C9E6-FAD3-47C3-B8FB-04C764464C29}" destId="{7C1A1444-16FD-4228-8A13-24F7854DC7DA}" srcOrd="2" destOrd="0" parTransId="{3BCAE110-3A9B-4825-88F0-3675F2AC3AEC}" sibTransId="{D1415C7D-46D2-4404-9C65-5BB01F490124}"/>
    <dgm:cxn modelId="{8646AED7-6077-4205-B9DA-FF9A7BE34801}" srcId="{DAD1C9E6-FAD3-47C3-B8FB-04C764464C29}" destId="{06D37081-45DA-4624-ACBF-5B4AABDABFD5}" srcOrd="0" destOrd="0" parTransId="{7B24D107-9152-47B6-B3F5-973A6B7E94E3}" sibTransId="{E2B8EB05-6372-425D-8882-CF91A9505E26}"/>
    <dgm:cxn modelId="{539513D8-FE00-4250-9F0E-8B4E8214ECF4}" type="presOf" srcId="{06D37081-45DA-4624-ACBF-5B4AABDABFD5}" destId="{ABCF3414-B420-408B-98C2-635053F091F0}" srcOrd="0" destOrd="0" presId="urn:microsoft.com/office/officeart/2005/8/layout/vList5"/>
    <dgm:cxn modelId="{9BF4BBF3-2419-4830-A8CF-0B2CF38C854A}" srcId="{DAD1C9E6-FAD3-47C3-B8FB-04C764464C29}" destId="{88CA96D5-0ECD-450A-B2E5-3C85AB228455}" srcOrd="1" destOrd="0" parTransId="{56175E32-3F48-4FE4-A28A-69035E833E76}" sibTransId="{D3C95F2F-2B1B-4982-8A23-3472E3FEFD14}"/>
    <dgm:cxn modelId="{1245F497-2435-4130-8AAB-6CB780ED161F}" type="presParOf" srcId="{648AEBD6-AC80-4A10-A710-57859C1BCCD5}" destId="{1480FA36-C394-4ED5-BD41-CEE641BE8DAF}" srcOrd="0" destOrd="0" presId="urn:microsoft.com/office/officeart/2005/8/layout/vList5"/>
    <dgm:cxn modelId="{08DDC1AD-6E2B-469E-ACFD-E65F2C296D9F}" type="presParOf" srcId="{1480FA36-C394-4ED5-BD41-CEE641BE8DAF}" destId="{ABCF3414-B420-408B-98C2-635053F091F0}" srcOrd="0" destOrd="0" presId="urn:microsoft.com/office/officeart/2005/8/layout/vList5"/>
    <dgm:cxn modelId="{CD0BA894-5A9E-4EF9-A2FE-7BA6CE094899}" type="presParOf" srcId="{648AEBD6-AC80-4A10-A710-57859C1BCCD5}" destId="{DDEE0D5D-8AEA-4BC1-AB36-7481D9173B6E}" srcOrd="1" destOrd="0" presId="urn:microsoft.com/office/officeart/2005/8/layout/vList5"/>
    <dgm:cxn modelId="{83090045-A258-46D7-BD42-937C652D0EE3}" type="presParOf" srcId="{648AEBD6-AC80-4A10-A710-57859C1BCCD5}" destId="{7B9D258B-0171-43D6-87DE-ACF9EE617367}" srcOrd="2" destOrd="0" presId="urn:microsoft.com/office/officeart/2005/8/layout/vList5"/>
    <dgm:cxn modelId="{E229C812-9B72-416A-8BAF-DE773F235D98}" type="presParOf" srcId="{7B9D258B-0171-43D6-87DE-ACF9EE617367}" destId="{D298E97B-1053-435B-B844-E182EA94393F}" srcOrd="0" destOrd="0" presId="urn:microsoft.com/office/officeart/2005/8/layout/vList5"/>
    <dgm:cxn modelId="{E35D335C-16DE-42DE-9FB0-C7239482F10F}" type="presParOf" srcId="{648AEBD6-AC80-4A10-A710-57859C1BCCD5}" destId="{6B428D1D-610F-4BC8-AFD1-7AC26B51B150}" srcOrd="3" destOrd="0" presId="urn:microsoft.com/office/officeart/2005/8/layout/vList5"/>
    <dgm:cxn modelId="{6C6241FF-451B-458C-9E16-1057599B92AA}" type="presParOf" srcId="{648AEBD6-AC80-4A10-A710-57859C1BCCD5}" destId="{0765A09F-5826-4C45-AA9F-8EEDE92275AE}" srcOrd="4" destOrd="0" presId="urn:microsoft.com/office/officeart/2005/8/layout/vList5"/>
    <dgm:cxn modelId="{CA79B0F5-8BB3-4060-93DF-179697B1641B}" type="presParOf" srcId="{0765A09F-5826-4C45-AA9F-8EEDE92275AE}" destId="{D29DD54E-9758-43A1-BD48-9F6A5592C825}" srcOrd="0" destOrd="0" presId="urn:microsoft.com/office/officeart/2005/8/layout/vList5"/>
    <dgm:cxn modelId="{222CF1E4-EDF9-411E-8B2C-FB6EABCA0372}" type="presParOf" srcId="{648AEBD6-AC80-4A10-A710-57859C1BCCD5}" destId="{CD8589CD-EFC2-46A8-8BF9-68D24C4D6FA5}" srcOrd="5" destOrd="0" presId="urn:microsoft.com/office/officeart/2005/8/layout/vList5"/>
    <dgm:cxn modelId="{572FD12D-F841-45B9-A325-2BB449E0857C}" type="presParOf" srcId="{648AEBD6-AC80-4A10-A710-57859C1BCCD5}" destId="{2F0D98B7-D3A8-4955-9446-3C65ED446703}" srcOrd="6" destOrd="0" presId="urn:microsoft.com/office/officeart/2005/8/layout/vList5"/>
    <dgm:cxn modelId="{E780A611-9EA6-46C7-8122-7073179B6BAA}" type="presParOf" srcId="{2F0D98B7-D3A8-4955-9446-3C65ED446703}" destId="{42FCB565-2F8B-4597-8865-4F997E6E3587}" srcOrd="0" destOrd="0" presId="urn:microsoft.com/office/officeart/2005/8/layout/vList5"/>
    <dgm:cxn modelId="{4D6EBDD1-3AC2-4E78-BAF3-5397528F0F27}" type="presParOf" srcId="{648AEBD6-AC80-4A10-A710-57859C1BCCD5}" destId="{E7417E10-4266-4E80-B50B-D46C985CDD8D}" srcOrd="7" destOrd="0" presId="urn:microsoft.com/office/officeart/2005/8/layout/vList5"/>
    <dgm:cxn modelId="{4CC2CBB3-C453-4816-8338-2BE03B5BA0E1}" type="presParOf" srcId="{648AEBD6-AC80-4A10-A710-57859C1BCCD5}" destId="{92521C04-8CF3-4253-ACF9-C561B80FFBC1}" srcOrd="8" destOrd="0" presId="urn:microsoft.com/office/officeart/2005/8/layout/vList5"/>
    <dgm:cxn modelId="{35977E60-B8F8-4880-8B2A-288AD96B9DAC}" type="presParOf" srcId="{92521C04-8CF3-4253-ACF9-C561B80FFBC1}" destId="{75C6D2BB-6ED7-405C-B450-5E4D169A4AAB}" srcOrd="0" destOrd="0" presId="urn:microsoft.com/office/officeart/2005/8/layout/vList5"/>
    <dgm:cxn modelId="{C3299448-DC28-4739-AB1F-7C21D1F07224}" type="presParOf" srcId="{648AEBD6-AC80-4A10-A710-57859C1BCCD5}" destId="{87A5F714-D02C-46AF-B470-42B979D13B9A}" srcOrd="9" destOrd="0" presId="urn:microsoft.com/office/officeart/2005/8/layout/vList5"/>
    <dgm:cxn modelId="{8EFA35DB-54A7-4475-992F-7BD239415D61}" type="presParOf" srcId="{648AEBD6-AC80-4A10-A710-57859C1BCCD5}" destId="{26658E3B-A10D-4C7F-88D3-C93D185AED90}" srcOrd="10" destOrd="0" presId="urn:microsoft.com/office/officeart/2005/8/layout/vList5"/>
    <dgm:cxn modelId="{4D46AA17-4CF0-4459-B222-9DE4B6DD59B6}" type="presParOf" srcId="{26658E3B-A10D-4C7F-88D3-C93D185AED90}" destId="{14A9FA02-BF86-4705-B0EC-E727E4AF3F7C}" srcOrd="0" destOrd="0" presId="urn:microsoft.com/office/officeart/2005/8/layout/vList5"/>
    <dgm:cxn modelId="{57F539E1-3724-42A6-A15F-331E445CD582}" type="presParOf" srcId="{648AEBD6-AC80-4A10-A710-57859C1BCCD5}" destId="{A5953A82-1DFA-4845-B2EE-75B04246F1B6}" srcOrd="11" destOrd="0" presId="urn:microsoft.com/office/officeart/2005/8/layout/vList5"/>
    <dgm:cxn modelId="{FC728444-C331-451F-99CA-D173D41E38C1}" type="presParOf" srcId="{648AEBD6-AC80-4A10-A710-57859C1BCCD5}" destId="{6349597E-BB79-4C10-ABE3-E9B5D2FC4527}" srcOrd="12" destOrd="0" presId="urn:microsoft.com/office/officeart/2005/8/layout/vList5"/>
    <dgm:cxn modelId="{52452280-D434-402D-91E8-41C27E5DFE6A}" type="presParOf" srcId="{6349597E-BB79-4C10-ABE3-E9B5D2FC4527}" destId="{4EBC644D-07DE-4C58-B645-68DF093DA4FC}" srcOrd="0" destOrd="0" presId="urn:microsoft.com/office/officeart/2005/8/layout/vList5"/>
    <dgm:cxn modelId="{8943A9DA-8D21-4619-AD26-E796D196D2A9}" type="presParOf" srcId="{648AEBD6-AC80-4A10-A710-57859C1BCCD5}" destId="{F98477EF-73B4-4A79-BAAD-CA5ED9487C5C}" srcOrd="13" destOrd="0" presId="urn:microsoft.com/office/officeart/2005/8/layout/vList5"/>
    <dgm:cxn modelId="{6A5E832D-5CCB-4B1F-84CE-34E8A976DC38}" type="presParOf" srcId="{648AEBD6-AC80-4A10-A710-57859C1BCCD5}" destId="{A2D90FC9-264F-4CF2-9F24-AF3A2B12C6AA}" srcOrd="14" destOrd="0" presId="urn:microsoft.com/office/officeart/2005/8/layout/vList5"/>
    <dgm:cxn modelId="{7B808787-9E54-4156-9F1D-255B34EC778A}" type="presParOf" srcId="{A2D90FC9-264F-4CF2-9F24-AF3A2B12C6AA}" destId="{59F362CD-5718-4BF2-83B5-F50E914A976D}" srcOrd="0" destOrd="0" presId="urn:microsoft.com/office/officeart/2005/8/layout/vList5"/>
    <dgm:cxn modelId="{F0470796-BCF1-4036-9432-DF28CA1D1F89}" type="presParOf" srcId="{648AEBD6-AC80-4A10-A710-57859C1BCCD5}" destId="{03FEB88D-B1F9-4FDF-885A-CFBF8802A2DF}" srcOrd="15" destOrd="0" presId="urn:microsoft.com/office/officeart/2005/8/layout/vList5"/>
    <dgm:cxn modelId="{CBA4F4BF-A2B3-4AD5-B450-6B16133FE9CE}" type="presParOf" srcId="{648AEBD6-AC80-4A10-A710-57859C1BCCD5}" destId="{941BBBF8-BBDE-48A3-A9D0-BBD046A846EB}" srcOrd="16" destOrd="0" presId="urn:microsoft.com/office/officeart/2005/8/layout/vList5"/>
    <dgm:cxn modelId="{C62F0D18-85A0-4ED3-827F-E5FB4B78DE04}" type="presParOf" srcId="{941BBBF8-BBDE-48A3-A9D0-BBD046A846EB}" destId="{048554EF-614D-429F-841D-BF474718886B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AB56665-0C49-4595-8B36-246850219D9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57226F4-7E83-48EB-A783-5B1BD93F642E}">
      <dgm:prSet/>
      <dgm:spPr/>
      <dgm:t>
        <a:bodyPr/>
        <a:lstStyle/>
        <a:p>
          <a:r>
            <a:rPr lang="en-US" dirty="0"/>
            <a:t>The term polarization can refer either to a state of political dividedness, or to a process toward such a state [7]</a:t>
          </a:r>
        </a:p>
      </dgm:t>
    </dgm:pt>
    <dgm:pt modelId="{275CC718-B40D-4F5D-A1FB-40E60E4F1F8D}" type="parTrans" cxnId="{BAB25641-E81F-46FB-B2D8-E65D0E06391D}">
      <dgm:prSet/>
      <dgm:spPr/>
      <dgm:t>
        <a:bodyPr/>
        <a:lstStyle/>
        <a:p>
          <a:endParaRPr lang="en-US"/>
        </a:p>
      </dgm:t>
    </dgm:pt>
    <dgm:pt modelId="{04BCF14B-8034-445F-AF5B-6B4E7DAFC4C2}" type="sibTrans" cxnId="{BAB25641-E81F-46FB-B2D8-E65D0E06391D}">
      <dgm:prSet/>
      <dgm:spPr/>
      <dgm:t>
        <a:bodyPr/>
        <a:lstStyle/>
        <a:p>
          <a:endParaRPr lang="en-US"/>
        </a:p>
      </dgm:t>
    </dgm:pt>
    <dgm:pt modelId="{A3EAB397-9883-43E5-83E8-25CF30B42008}">
      <dgm:prSet/>
      <dgm:spPr/>
      <dgm:t>
        <a:bodyPr/>
        <a:lstStyle/>
        <a:p>
          <a:r>
            <a:rPr lang="en-US" dirty="0"/>
            <a:t>Characterized by ideological extremes, far ends of agreement/disagreement [3]</a:t>
          </a:r>
        </a:p>
      </dgm:t>
    </dgm:pt>
    <dgm:pt modelId="{69DAA95E-8EF1-4E29-9D9F-1A25A4D1DB75}" type="parTrans" cxnId="{BF27E9EF-1B09-45C0-A9F1-5F8ECE12E006}">
      <dgm:prSet/>
      <dgm:spPr/>
      <dgm:t>
        <a:bodyPr/>
        <a:lstStyle/>
        <a:p>
          <a:endParaRPr lang="en-US"/>
        </a:p>
      </dgm:t>
    </dgm:pt>
    <dgm:pt modelId="{8D7E3973-3D03-4E59-8823-224B04282BA2}" type="sibTrans" cxnId="{BF27E9EF-1B09-45C0-A9F1-5F8ECE12E006}">
      <dgm:prSet/>
      <dgm:spPr/>
      <dgm:t>
        <a:bodyPr/>
        <a:lstStyle/>
        <a:p>
          <a:endParaRPr lang="en-US"/>
        </a:p>
      </dgm:t>
    </dgm:pt>
    <dgm:pt modelId="{7C5A4F55-4AC1-474E-8924-3DDB1DEAF8B7}">
      <dgm:prSet/>
      <dgm:spPr/>
      <dgm:t>
        <a:bodyPr/>
        <a:lstStyle/>
        <a:p>
          <a:r>
            <a:rPr lang="en-US" dirty="0"/>
            <a:t>Leads to strong discourse and mistrust, fueled by misinformation [4]</a:t>
          </a:r>
        </a:p>
      </dgm:t>
    </dgm:pt>
    <dgm:pt modelId="{614E9443-00D9-486F-A6F0-1F868CED8998}" type="parTrans" cxnId="{06A4C8FD-617B-471D-B7AC-8739A398F948}">
      <dgm:prSet/>
      <dgm:spPr/>
      <dgm:t>
        <a:bodyPr/>
        <a:lstStyle/>
        <a:p>
          <a:endParaRPr lang="en-US"/>
        </a:p>
      </dgm:t>
    </dgm:pt>
    <dgm:pt modelId="{248B0C3F-7DA4-4713-967C-4244212B7996}" type="sibTrans" cxnId="{06A4C8FD-617B-471D-B7AC-8739A398F948}">
      <dgm:prSet/>
      <dgm:spPr/>
      <dgm:t>
        <a:bodyPr/>
        <a:lstStyle/>
        <a:p>
          <a:endParaRPr lang="en-US"/>
        </a:p>
      </dgm:t>
    </dgm:pt>
    <dgm:pt modelId="{C9D495B6-B443-4168-8616-8B6DF545FFB4}" type="pres">
      <dgm:prSet presAssocID="{AAB56665-0C49-4595-8B36-246850219D91}" presName="root" presStyleCnt="0">
        <dgm:presLayoutVars>
          <dgm:dir/>
          <dgm:resizeHandles val="exact"/>
        </dgm:presLayoutVars>
      </dgm:prSet>
      <dgm:spPr/>
    </dgm:pt>
    <dgm:pt modelId="{A01B49E8-DFEE-48B1-98EC-3C8CCA31318F}" type="pres">
      <dgm:prSet presAssocID="{257226F4-7E83-48EB-A783-5B1BD93F642E}" presName="compNode" presStyleCnt="0"/>
      <dgm:spPr/>
    </dgm:pt>
    <dgm:pt modelId="{9F30BE8F-80A2-40B0-8666-F65B5CC5A935}" type="pres">
      <dgm:prSet presAssocID="{257226F4-7E83-48EB-A783-5B1BD93F642E}" presName="bgRect" presStyleLbl="bgShp" presStyleIdx="0" presStyleCnt="3"/>
      <dgm:spPr/>
    </dgm:pt>
    <dgm:pt modelId="{30190A19-5876-40CB-8570-93E26C026C95}" type="pres">
      <dgm:prSet presAssocID="{257226F4-7E83-48EB-A783-5B1BD93F642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cial Network"/>
        </a:ext>
      </dgm:extLst>
    </dgm:pt>
    <dgm:pt modelId="{67406FAF-13F9-4622-8AFA-4D00FE3D01AC}" type="pres">
      <dgm:prSet presAssocID="{257226F4-7E83-48EB-A783-5B1BD93F642E}" presName="spaceRect" presStyleCnt="0"/>
      <dgm:spPr/>
    </dgm:pt>
    <dgm:pt modelId="{77877F88-D884-4961-A7DA-D99C0A6A06A2}" type="pres">
      <dgm:prSet presAssocID="{257226F4-7E83-48EB-A783-5B1BD93F642E}" presName="parTx" presStyleLbl="revTx" presStyleIdx="0" presStyleCnt="3">
        <dgm:presLayoutVars>
          <dgm:chMax val="0"/>
          <dgm:chPref val="0"/>
        </dgm:presLayoutVars>
      </dgm:prSet>
      <dgm:spPr/>
    </dgm:pt>
    <dgm:pt modelId="{77A12F3D-DBF4-44DE-92BA-642DEF5D2BBE}" type="pres">
      <dgm:prSet presAssocID="{04BCF14B-8034-445F-AF5B-6B4E7DAFC4C2}" presName="sibTrans" presStyleCnt="0"/>
      <dgm:spPr/>
    </dgm:pt>
    <dgm:pt modelId="{7D9BC903-BE3B-4945-B400-F1394D19BBE7}" type="pres">
      <dgm:prSet presAssocID="{A3EAB397-9883-43E5-83E8-25CF30B42008}" presName="compNode" presStyleCnt="0"/>
      <dgm:spPr/>
    </dgm:pt>
    <dgm:pt modelId="{50A70D13-06F6-4EBC-ACED-AF4BF8239C91}" type="pres">
      <dgm:prSet presAssocID="{A3EAB397-9883-43E5-83E8-25CF30B42008}" presName="bgRect" presStyleLbl="bgShp" presStyleIdx="1" presStyleCnt="3"/>
      <dgm:spPr/>
    </dgm:pt>
    <dgm:pt modelId="{5B66ED55-3C6C-408F-B160-228FE87FFD44}" type="pres">
      <dgm:prSet presAssocID="{A3EAB397-9883-43E5-83E8-25CF30B4200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udge"/>
        </a:ext>
      </dgm:extLst>
    </dgm:pt>
    <dgm:pt modelId="{AD26392A-B92F-47AC-B9A1-458C740B6804}" type="pres">
      <dgm:prSet presAssocID="{A3EAB397-9883-43E5-83E8-25CF30B42008}" presName="spaceRect" presStyleCnt="0"/>
      <dgm:spPr/>
    </dgm:pt>
    <dgm:pt modelId="{01D4F89B-6F87-4139-BAA9-49A4E2058F65}" type="pres">
      <dgm:prSet presAssocID="{A3EAB397-9883-43E5-83E8-25CF30B42008}" presName="parTx" presStyleLbl="revTx" presStyleIdx="1" presStyleCnt="3">
        <dgm:presLayoutVars>
          <dgm:chMax val="0"/>
          <dgm:chPref val="0"/>
        </dgm:presLayoutVars>
      </dgm:prSet>
      <dgm:spPr/>
    </dgm:pt>
    <dgm:pt modelId="{FEA01965-2DA0-413B-BC94-3DF040BB06AC}" type="pres">
      <dgm:prSet presAssocID="{8D7E3973-3D03-4E59-8823-224B04282BA2}" presName="sibTrans" presStyleCnt="0"/>
      <dgm:spPr/>
    </dgm:pt>
    <dgm:pt modelId="{F7545039-E47D-4181-9FE7-BE2291C3C836}" type="pres">
      <dgm:prSet presAssocID="{7C5A4F55-4AC1-474E-8924-3DDB1DEAF8B7}" presName="compNode" presStyleCnt="0"/>
      <dgm:spPr/>
    </dgm:pt>
    <dgm:pt modelId="{4E210D7C-D45C-4E81-B70D-2343E2DE67BB}" type="pres">
      <dgm:prSet presAssocID="{7C5A4F55-4AC1-474E-8924-3DDB1DEAF8B7}" presName="bgRect" presStyleLbl="bgShp" presStyleIdx="2" presStyleCnt="3"/>
      <dgm:spPr/>
    </dgm:pt>
    <dgm:pt modelId="{B8DCB7F5-D037-42C5-882C-ACCFFCCCE6E6}" type="pres">
      <dgm:prSet presAssocID="{7C5A4F55-4AC1-474E-8924-3DDB1DEAF8B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 Sign"/>
        </a:ext>
      </dgm:extLst>
    </dgm:pt>
    <dgm:pt modelId="{564C4249-1106-4025-AB22-BE95C9C029EB}" type="pres">
      <dgm:prSet presAssocID="{7C5A4F55-4AC1-474E-8924-3DDB1DEAF8B7}" presName="spaceRect" presStyleCnt="0"/>
      <dgm:spPr/>
    </dgm:pt>
    <dgm:pt modelId="{87CE16A2-FADD-4A15-892F-E7DE3BC1C7C0}" type="pres">
      <dgm:prSet presAssocID="{7C5A4F55-4AC1-474E-8924-3DDB1DEAF8B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688513B-CFED-4392-9418-BAAC22088C33}" type="presOf" srcId="{257226F4-7E83-48EB-A783-5B1BD93F642E}" destId="{77877F88-D884-4961-A7DA-D99C0A6A06A2}" srcOrd="0" destOrd="0" presId="urn:microsoft.com/office/officeart/2018/2/layout/IconVerticalSolidList"/>
    <dgm:cxn modelId="{2621DC5E-1F95-4A9B-8620-1D5495EAE516}" type="presOf" srcId="{A3EAB397-9883-43E5-83E8-25CF30B42008}" destId="{01D4F89B-6F87-4139-BAA9-49A4E2058F65}" srcOrd="0" destOrd="0" presId="urn:microsoft.com/office/officeart/2018/2/layout/IconVerticalSolidList"/>
    <dgm:cxn modelId="{BAB25641-E81F-46FB-B2D8-E65D0E06391D}" srcId="{AAB56665-0C49-4595-8B36-246850219D91}" destId="{257226F4-7E83-48EB-A783-5B1BD93F642E}" srcOrd="0" destOrd="0" parTransId="{275CC718-B40D-4F5D-A1FB-40E60E4F1F8D}" sibTransId="{04BCF14B-8034-445F-AF5B-6B4E7DAFC4C2}"/>
    <dgm:cxn modelId="{46AB284B-AFF3-43D9-A8E2-0DE73A4011BB}" type="presOf" srcId="{7C5A4F55-4AC1-474E-8924-3DDB1DEAF8B7}" destId="{87CE16A2-FADD-4A15-892F-E7DE3BC1C7C0}" srcOrd="0" destOrd="0" presId="urn:microsoft.com/office/officeart/2018/2/layout/IconVerticalSolidList"/>
    <dgm:cxn modelId="{2C02CEA2-78DD-461B-BB7C-A21F736A442B}" type="presOf" srcId="{AAB56665-0C49-4595-8B36-246850219D91}" destId="{C9D495B6-B443-4168-8616-8B6DF545FFB4}" srcOrd="0" destOrd="0" presId="urn:microsoft.com/office/officeart/2018/2/layout/IconVerticalSolidList"/>
    <dgm:cxn modelId="{BF27E9EF-1B09-45C0-A9F1-5F8ECE12E006}" srcId="{AAB56665-0C49-4595-8B36-246850219D91}" destId="{A3EAB397-9883-43E5-83E8-25CF30B42008}" srcOrd="1" destOrd="0" parTransId="{69DAA95E-8EF1-4E29-9D9F-1A25A4D1DB75}" sibTransId="{8D7E3973-3D03-4E59-8823-224B04282BA2}"/>
    <dgm:cxn modelId="{06A4C8FD-617B-471D-B7AC-8739A398F948}" srcId="{AAB56665-0C49-4595-8B36-246850219D91}" destId="{7C5A4F55-4AC1-474E-8924-3DDB1DEAF8B7}" srcOrd="2" destOrd="0" parTransId="{614E9443-00D9-486F-A6F0-1F868CED8998}" sibTransId="{248B0C3F-7DA4-4713-967C-4244212B7996}"/>
    <dgm:cxn modelId="{8B1095B0-1333-48C8-99DA-491BF1F28297}" type="presParOf" srcId="{C9D495B6-B443-4168-8616-8B6DF545FFB4}" destId="{A01B49E8-DFEE-48B1-98EC-3C8CCA31318F}" srcOrd="0" destOrd="0" presId="urn:microsoft.com/office/officeart/2018/2/layout/IconVerticalSolidList"/>
    <dgm:cxn modelId="{D1E571DC-1019-45FA-BD0B-50397443178B}" type="presParOf" srcId="{A01B49E8-DFEE-48B1-98EC-3C8CCA31318F}" destId="{9F30BE8F-80A2-40B0-8666-F65B5CC5A935}" srcOrd="0" destOrd="0" presId="urn:microsoft.com/office/officeart/2018/2/layout/IconVerticalSolidList"/>
    <dgm:cxn modelId="{F97D6B92-4156-4860-B247-E20FFAEE5F0E}" type="presParOf" srcId="{A01B49E8-DFEE-48B1-98EC-3C8CCA31318F}" destId="{30190A19-5876-40CB-8570-93E26C026C95}" srcOrd="1" destOrd="0" presId="urn:microsoft.com/office/officeart/2018/2/layout/IconVerticalSolidList"/>
    <dgm:cxn modelId="{E7216E78-6578-4754-944A-3B6CA5BE1663}" type="presParOf" srcId="{A01B49E8-DFEE-48B1-98EC-3C8CCA31318F}" destId="{67406FAF-13F9-4622-8AFA-4D00FE3D01AC}" srcOrd="2" destOrd="0" presId="urn:microsoft.com/office/officeart/2018/2/layout/IconVerticalSolidList"/>
    <dgm:cxn modelId="{D7629F87-3681-4460-BD56-E053BBD77B42}" type="presParOf" srcId="{A01B49E8-DFEE-48B1-98EC-3C8CCA31318F}" destId="{77877F88-D884-4961-A7DA-D99C0A6A06A2}" srcOrd="3" destOrd="0" presId="urn:microsoft.com/office/officeart/2018/2/layout/IconVerticalSolidList"/>
    <dgm:cxn modelId="{8B1FB01A-DF9A-44A4-95AB-75848E8848B8}" type="presParOf" srcId="{C9D495B6-B443-4168-8616-8B6DF545FFB4}" destId="{77A12F3D-DBF4-44DE-92BA-642DEF5D2BBE}" srcOrd="1" destOrd="0" presId="urn:microsoft.com/office/officeart/2018/2/layout/IconVerticalSolidList"/>
    <dgm:cxn modelId="{F97985DF-BC41-4A56-9E5B-FA5A4DAE5B1F}" type="presParOf" srcId="{C9D495B6-B443-4168-8616-8B6DF545FFB4}" destId="{7D9BC903-BE3B-4945-B400-F1394D19BBE7}" srcOrd="2" destOrd="0" presId="urn:microsoft.com/office/officeart/2018/2/layout/IconVerticalSolidList"/>
    <dgm:cxn modelId="{D823A1A2-BFD1-40F1-9D3C-35DA85A8A2D2}" type="presParOf" srcId="{7D9BC903-BE3B-4945-B400-F1394D19BBE7}" destId="{50A70D13-06F6-4EBC-ACED-AF4BF8239C91}" srcOrd="0" destOrd="0" presId="urn:microsoft.com/office/officeart/2018/2/layout/IconVerticalSolidList"/>
    <dgm:cxn modelId="{481C4E3B-AB41-4C09-BE8F-D5ECDEF5ED66}" type="presParOf" srcId="{7D9BC903-BE3B-4945-B400-F1394D19BBE7}" destId="{5B66ED55-3C6C-408F-B160-228FE87FFD44}" srcOrd="1" destOrd="0" presId="urn:microsoft.com/office/officeart/2018/2/layout/IconVerticalSolidList"/>
    <dgm:cxn modelId="{B003D9A3-A92D-46D6-9338-7642901AC467}" type="presParOf" srcId="{7D9BC903-BE3B-4945-B400-F1394D19BBE7}" destId="{AD26392A-B92F-47AC-B9A1-458C740B6804}" srcOrd="2" destOrd="0" presId="urn:microsoft.com/office/officeart/2018/2/layout/IconVerticalSolidList"/>
    <dgm:cxn modelId="{7396AD64-5938-4409-B5F3-31DD6270CB04}" type="presParOf" srcId="{7D9BC903-BE3B-4945-B400-F1394D19BBE7}" destId="{01D4F89B-6F87-4139-BAA9-49A4E2058F65}" srcOrd="3" destOrd="0" presId="urn:microsoft.com/office/officeart/2018/2/layout/IconVerticalSolidList"/>
    <dgm:cxn modelId="{E1629440-E7BE-4777-A9E4-B59AF438E41E}" type="presParOf" srcId="{C9D495B6-B443-4168-8616-8B6DF545FFB4}" destId="{FEA01965-2DA0-413B-BC94-3DF040BB06AC}" srcOrd="3" destOrd="0" presId="urn:microsoft.com/office/officeart/2018/2/layout/IconVerticalSolidList"/>
    <dgm:cxn modelId="{EF814B32-D049-4497-8079-097EE18ED549}" type="presParOf" srcId="{C9D495B6-B443-4168-8616-8B6DF545FFB4}" destId="{F7545039-E47D-4181-9FE7-BE2291C3C836}" srcOrd="4" destOrd="0" presId="urn:microsoft.com/office/officeart/2018/2/layout/IconVerticalSolidList"/>
    <dgm:cxn modelId="{9405D7AE-A100-4640-8249-36C16A2DC9E1}" type="presParOf" srcId="{F7545039-E47D-4181-9FE7-BE2291C3C836}" destId="{4E210D7C-D45C-4E81-B70D-2343E2DE67BB}" srcOrd="0" destOrd="0" presId="urn:microsoft.com/office/officeart/2018/2/layout/IconVerticalSolidList"/>
    <dgm:cxn modelId="{BEE31FA8-6F73-44C4-A9BC-D7E7AE03A464}" type="presParOf" srcId="{F7545039-E47D-4181-9FE7-BE2291C3C836}" destId="{B8DCB7F5-D037-42C5-882C-ACCFFCCCE6E6}" srcOrd="1" destOrd="0" presId="urn:microsoft.com/office/officeart/2018/2/layout/IconVerticalSolidList"/>
    <dgm:cxn modelId="{54D4EE7C-81FE-4901-B2BC-1B625611B758}" type="presParOf" srcId="{F7545039-E47D-4181-9FE7-BE2291C3C836}" destId="{564C4249-1106-4025-AB22-BE95C9C029EB}" srcOrd="2" destOrd="0" presId="urn:microsoft.com/office/officeart/2018/2/layout/IconVerticalSolidList"/>
    <dgm:cxn modelId="{9E801133-0A8D-4E5B-BCA6-861A7269BF93}" type="presParOf" srcId="{F7545039-E47D-4181-9FE7-BE2291C3C836}" destId="{87CE16A2-FADD-4A15-892F-E7DE3BC1C7C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CF3414-B420-408B-98C2-635053F091F0}">
      <dsp:nvSpPr>
        <dsp:cNvPr id="0" name=""/>
        <dsp:cNvSpPr/>
      </dsp:nvSpPr>
      <dsp:spPr>
        <a:xfrm>
          <a:off x="3384498" y="1172"/>
          <a:ext cx="3807560" cy="4439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Introduction</a:t>
          </a:r>
        </a:p>
      </dsp:txBody>
      <dsp:txXfrm>
        <a:off x="3406170" y="22844"/>
        <a:ext cx="3764216" cy="400605"/>
      </dsp:txXfrm>
    </dsp:sp>
    <dsp:sp modelId="{D298E97B-1053-435B-B844-E182EA94393F}">
      <dsp:nvSpPr>
        <dsp:cNvPr id="0" name=""/>
        <dsp:cNvSpPr/>
      </dsp:nvSpPr>
      <dsp:spPr>
        <a:xfrm>
          <a:off x="3384498" y="467319"/>
          <a:ext cx="3807560" cy="443949"/>
        </a:xfrm>
        <a:prstGeom prst="roundRect">
          <a:avLst/>
        </a:prstGeom>
        <a:solidFill>
          <a:schemeClr val="accent2">
            <a:hueOff val="-179198"/>
            <a:satOff val="-4318"/>
            <a:lumOff val="-2598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POLAR Framework</a:t>
          </a:r>
        </a:p>
      </dsp:txBody>
      <dsp:txXfrm>
        <a:off x="3406170" y="488991"/>
        <a:ext cx="3764216" cy="400605"/>
      </dsp:txXfrm>
    </dsp:sp>
    <dsp:sp modelId="{D29DD54E-9758-43A1-BD48-9F6A5592C825}">
      <dsp:nvSpPr>
        <dsp:cNvPr id="0" name=""/>
        <dsp:cNvSpPr/>
      </dsp:nvSpPr>
      <dsp:spPr>
        <a:xfrm>
          <a:off x="3384498" y="933465"/>
          <a:ext cx="3807560" cy="443949"/>
        </a:xfrm>
        <a:prstGeom prst="roundRect">
          <a:avLst/>
        </a:prstGeom>
        <a:solidFill>
          <a:schemeClr val="accent2">
            <a:hueOff val="-358396"/>
            <a:satOff val="-8636"/>
            <a:lumOff val="-5196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Objectives</a:t>
          </a:r>
        </a:p>
      </dsp:txBody>
      <dsp:txXfrm>
        <a:off x="3406170" y="955137"/>
        <a:ext cx="3764216" cy="400605"/>
      </dsp:txXfrm>
    </dsp:sp>
    <dsp:sp modelId="{42FCB565-2F8B-4597-8865-4F997E6E3587}">
      <dsp:nvSpPr>
        <dsp:cNvPr id="0" name=""/>
        <dsp:cNvSpPr/>
      </dsp:nvSpPr>
      <dsp:spPr>
        <a:xfrm>
          <a:off x="3384498" y="1399612"/>
          <a:ext cx="3807560" cy="443949"/>
        </a:xfrm>
        <a:prstGeom prst="roundRect">
          <a:avLst/>
        </a:prstGeom>
        <a:solidFill>
          <a:schemeClr val="accent2">
            <a:hueOff val="-537593"/>
            <a:satOff val="-12954"/>
            <a:lumOff val="-7794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Large Language Models</a:t>
          </a:r>
        </a:p>
      </dsp:txBody>
      <dsp:txXfrm>
        <a:off x="3406170" y="1421284"/>
        <a:ext cx="3764216" cy="400605"/>
      </dsp:txXfrm>
    </dsp:sp>
    <dsp:sp modelId="{75C6D2BB-6ED7-405C-B450-5E4D169A4AAB}">
      <dsp:nvSpPr>
        <dsp:cNvPr id="0" name=""/>
        <dsp:cNvSpPr/>
      </dsp:nvSpPr>
      <dsp:spPr>
        <a:xfrm>
          <a:off x="3384498" y="1865759"/>
          <a:ext cx="3807560" cy="443949"/>
        </a:xfrm>
        <a:prstGeom prst="roundRect">
          <a:avLst/>
        </a:prstGeom>
        <a:solidFill>
          <a:schemeClr val="accent2">
            <a:hueOff val="-716791"/>
            <a:satOff val="-17272"/>
            <a:lumOff val="-10393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Implementation</a:t>
          </a:r>
        </a:p>
      </dsp:txBody>
      <dsp:txXfrm>
        <a:off x="3406170" y="1887431"/>
        <a:ext cx="3764216" cy="400605"/>
      </dsp:txXfrm>
    </dsp:sp>
    <dsp:sp modelId="{14A9FA02-BF86-4705-B0EC-E727E4AF3F7C}">
      <dsp:nvSpPr>
        <dsp:cNvPr id="0" name=""/>
        <dsp:cNvSpPr/>
      </dsp:nvSpPr>
      <dsp:spPr>
        <a:xfrm>
          <a:off x="3384498" y="2331906"/>
          <a:ext cx="3807560" cy="443949"/>
        </a:xfrm>
        <a:prstGeom prst="roundRect">
          <a:avLst/>
        </a:prstGeom>
        <a:solidFill>
          <a:schemeClr val="accent2">
            <a:hueOff val="-895989"/>
            <a:satOff val="-21590"/>
            <a:lumOff val="-12991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Evaluation</a:t>
          </a:r>
        </a:p>
      </dsp:txBody>
      <dsp:txXfrm>
        <a:off x="3406170" y="2353578"/>
        <a:ext cx="3764216" cy="400605"/>
      </dsp:txXfrm>
    </dsp:sp>
    <dsp:sp modelId="{4EBC644D-07DE-4C58-B645-68DF093DA4FC}">
      <dsp:nvSpPr>
        <dsp:cNvPr id="0" name=""/>
        <dsp:cNvSpPr/>
      </dsp:nvSpPr>
      <dsp:spPr>
        <a:xfrm>
          <a:off x="3384498" y="2798052"/>
          <a:ext cx="3807560" cy="443949"/>
        </a:xfrm>
        <a:prstGeom prst="roundRect">
          <a:avLst/>
        </a:prstGeom>
        <a:solidFill>
          <a:schemeClr val="accent2">
            <a:hueOff val="-1075187"/>
            <a:satOff val="-25908"/>
            <a:lumOff val="-15589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Results &amp; Analysis</a:t>
          </a:r>
        </a:p>
      </dsp:txBody>
      <dsp:txXfrm>
        <a:off x="3406170" y="2819724"/>
        <a:ext cx="3764216" cy="400605"/>
      </dsp:txXfrm>
    </dsp:sp>
    <dsp:sp modelId="{59F362CD-5718-4BF2-83B5-F50E914A976D}">
      <dsp:nvSpPr>
        <dsp:cNvPr id="0" name=""/>
        <dsp:cNvSpPr/>
      </dsp:nvSpPr>
      <dsp:spPr>
        <a:xfrm>
          <a:off x="3384498" y="3264199"/>
          <a:ext cx="3807560" cy="443949"/>
        </a:xfrm>
        <a:prstGeom prst="roundRect">
          <a:avLst/>
        </a:prstGeom>
        <a:solidFill>
          <a:schemeClr val="accent2">
            <a:hueOff val="-1254384"/>
            <a:satOff val="-30226"/>
            <a:lumOff val="-18187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Conclusion</a:t>
          </a:r>
        </a:p>
      </dsp:txBody>
      <dsp:txXfrm>
        <a:off x="3406170" y="3285871"/>
        <a:ext cx="3764216" cy="400605"/>
      </dsp:txXfrm>
    </dsp:sp>
    <dsp:sp modelId="{048554EF-614D-429F-841D-BF474718886B}">
      <dsp:nvSpPr>
        <dsp:cNvPr id="0" name=""/>
        <dsp:cNvSpPr/>
      </dsp:nvSpPr>
      <dsp:spPr>
        <a:xfrm>
          <a:off x="3384498" y="3730346"/>
          <a:ext cx="3807560" cy="443949"/>
        </a:xfrm>
        <a:prstGeom prst="roundRect">
          <a:avLst/>
        </a:prstGeom>
        <a:solidFill>
          <a:schemeClr val="accent2">
            <a:hueOff val="-1433582"/>
            <a:satOff val="-34544"/>
            <a:lumOff val="-20785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Future Work</a:t>
          </a:r>
        </a:p>
      </dsp:txBody>
      <dsp:txXfrm>
        <a:off x="3406170" y="3752018"/>
        <a:ext cx="3764216" cy="4006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30BE8F-80A2-40B0-8666-F65B5CC5A935}">
      <dsp:nvSpPr>
        <dsp:cNvPr id="0" name=""/>
        <dsp:cNvSpPr/>
      </dsp:nvSpPr>
      <dsp:spPr>
        <a:xfrm>
          <a:off x="0" y="499"/>
          <a:ext cx="9618133" cy="1169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190A19-5876-40CB-8570-93E26C026C95}">
      <dsp:nvSpPr>
        <dsp:cNvPr id="0" name=""/>
        <dsp:cNvSpPr/>
      </dsp:nvSpPr>
      <dsp:spPr>
        <a:xfrm>
          <a:off x="353707" y="263587"/>
          <a:ext cx="643104" cy="6431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877F88-D884-4961-A7DA-D99C0A6A06A2}">
      <dsp:nvSpPr>
        <dsp:cNvPr id="0" name=""/>
        <dsp:cNvSpPr/>
      </dsp:nvSpPr>
      <dsp:spPr>
        <a:xfrm>
          <a:off x="1350519" y="499"/>
          <a:ext cx="8267613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The term polarization can refer either to a state of political dividedness, or to a process toward such a state [7]</a:t>
          </a:r>
        </a:p>
      </dsp:txBody>
      <dsp:txXfrm>
        <a:off x="1350519" y="499"/>
        <a:ext cx="8267613" cy="1169280"/>
      </dsp:txXfrm>
    </dsp:sp>
    <dsp:sp modelId="{50A70D13-06F6-4EBC-ACED-AF4BF8239C91}">
      <dsp:nvSpPr>
        <dsp:cNvPr id="0" name=""/>
        <dsp:cNvSpPr/>
      </dsp:nvSpPr>
      <dsp:spPr>
        <a:xfrm>
          <a:off x="0" y="1462100"/>
          <a:ext cx="9618133" cy="1169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66ED55-3C6C-408F-B160-228FE87FFD44}">
      <dsp:nvSpPr>
        <dsp:cNvPr id="0" name=""/>
        <dsp:cNvSpPr/>
      </dsp:nvSpPr>
      <dsp:spPr>
        <a:xfrm>
          <a:off x="353707" y="1725188"/>
          <a:ext cx="643104" cy="6431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D4F89B-6F87-4139-BAA9-49A4E2058F65}">
      <dsp:nvSpPr>
        <dsp:cNvPr id="0" name=""/>
        <dsp:cNvSpPr/>
      </dsp:nvSpPr>
      <dsp:spPr>
        <a:xfrm>
          <a:off x="1350519" y="1462100"/>
          <a:ext cx="8267613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Characterized by ideological extremes, far ends of agreement/disagreement [3]</a:t>
          </a:r>
        </a:p>
      </dsp:txBody>
      <dsp:txXfrm>
        <a:off x="1350519" y="1462100"/>
        <a:ext cx="8267613" cy="1169280"/>
      </dsp:txXfrm>
    </dsp:sp>
    <dsp:sp modelId="{4E210D7C-D45C-4E81-B70D-2343E2DE67BB}">
      <dsp:nvSpPr>
        <dsp:cNvPr id="0" name=""/>
        <dsp:cNvSpPr/>
      </dsp:nvSpPr>
      <dsp:spPr>
        <a:xfrm>
          <a:off x="0" y="2923701"/>
          <a:ext cx="9618133" cy="1169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DCB7F5-D037-42C5-882C-ACCFFCCCE6E6}">
      <dsp:nvSpPr>
        <dsp:cNvPr id="0" name=""/>
        <dsp:cNvSpPr/>
      </dsp:nvSpPr>
      <dsp:spPr>
        <a:xfrm>
          <a:off x="353707" y="3186789"/>
          <a:ext cx="643104" cy="6431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CE16A2-FADD-4A15-892F-E7DE3BC1C7C0}">
      <dsp:nvSpPr>
        <dsp:cNvPr id="0" name=""/>
        <dsp:cNvSpPr/>
      </dsp:nvSpPr>
      <dsp:spPr>
        <a:xfrm>
          <a:off x="1350519" y="2923701"/>
          <a:ext cx="8267613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Leads to strong discourse and mistrust, fueled by misinformation [4]</a:t>
          </a:r>
        </a:p>
      </dsp:txBody>
      <dsp:txXfrm>
        <a:off x="1350519" y="2923701"/>
        <a:ext cx="8267613" cy="11692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B36D-3B2C-4E81-92F7-987D475A4FBF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18F4A-2497-4002-8868-F5B015904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086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B36D-3B2C-4E81-92F7-987D475A4FBF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18F4A-2497-4002-8868-F5B015904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033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B36D-3B2C-4E81-92F7-987D475A4FBF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18F4A-2497-4002-8868-F5B015904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69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B36D-3B2C-4E81-92F7-987D475A4FBF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18F4A-2497-4002-8868-F5B015904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604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B36D-3B2C-4E81-92F7-987D475A4FBF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18F4A-2497-4002-8868-F5B015904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066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B36D-3B2C-4E81-92F7-987D475A4FBF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18F4A-2497-4002-8868-F5B015904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522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B36D-3B2C-4E81-92F7-987D475A4FBF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18F4A-2497-4002-8868-F5B015904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248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B36D-3B2C-4E81-92F7-987D475A4FBF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18F4A-2497-4002-8868-F5B015904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668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B36D-3B2C-4E81-92F7-987D475A4FBF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18F4A-2497-4002-8868-F5B015904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462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B36D-3B2C-4E81-92F7-987D475A4FBF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18F4A-2497-4002-8868-F5B015904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316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B36D-3B2C-4E81-92F7-987D475A4FBF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18F4A-2497-4002-8868-F5B01590458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7416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B36D-3B2C-4E81-92F7-987D475A4FBF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18F4A-2497-4002-8868-F5B015904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924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B36D-3B2C-4E81-92F7-987D475A4FBF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18F4A-2497-4002-8868-F5B01590458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8253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B36D-3B2C-4E81-92F7-987D475A4FBF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18F4A-2497-4002-8868-F5B015904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1737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B36D-3B2C-4E81-92F7-987D475A4FBF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18F4A-2497-4002-8868-F5B015904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0424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B36D-3B2C-4E81-92F7-987D475A4FBF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18F4A-2497-4002-8868-F5B015904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814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F9B36D-3B2C-4E81-92F7-987D475A4FBF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BD318F4A-2497-4002-8868-F5B015904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062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  <p:sldLayoutId id="2147483817" r:id="rId14"/>
    <p:sldLayoutId id="2147483818" r:id="rId15"/>
    <p:sldLayoutId id="214748381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dbpedia.org/resource/Schneider_Electric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A0ED4-C675-5826-7356-29D8AE1E5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047" y="1173302"/>
            <a:ext cx="9144000" cy="2387600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A Hybrid Approach to Polarization Detection: Replacing Traditional NLP tasks with Large Language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DCA1F-637A-C9DF-C326-2F296C6636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7823" y="4423662"/>
            <a:ext cx="9144000" cy="2030926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Supervisor: </a:t>
            </a:r>
          </a:p>
          <a:p>
            <a:pPr algn="ctr"/>
            <a:r>
              <a:rPr lang="en-US" dirty="0">
                <a:solidFill>
                  <a:schemeClr val="accent6"/>
                </a:solidFill>
              </a:rPr>
              <a:t>Marios </a:t>
            </a:r>
            <a:r>
              <a:rPr lang="en-US" dirty="0" err="1">
                <a:solidFill>
                  <a:schemeClr val="accent6"/>
                </a:solidFill>
              </a:rPr>
              <a:t>Dikaiakos</a:t>
            </a:r>
            <a:endParaRPr lang="en-US" dirty="0">
              <a:solidFill>
                <a:schemeClr val="accent6"/>
              </a:solidFill>
            </a:endParaRPr>
          </a:p>
          <a:p>
            <a:pPr algn="ctr"/>
            <a:endParaRPr lang="en-US" dirty="0">
              <a:solidFill>
                <a:schemeClr val="accent6"/>
              </a:solidFill>
            </a:endParaRPr>
          </a:p>
          <a:p>
            <a:pPr algn="ctr"/>
            <a:r>
              <a:rPr lang="en-US" dirty="0">
                <a:solidFill>
                  <a:schemeClr val="accent6"/>
                </a:solidFill>
              </a:rPr>
              <a:t>Doctoral Student Supervisor: </a:t>
            </a:r>
          </a:p>
          <a:p>
            <a:pPr algn="ctr"/>
            <a:r>
              <a:rPr lang="en-US" dirty="0">
                <a:solidFill>
                  <a:schemeClr val="accent6"/>
                </a:solidFill>
              </a:rPr>
              <a:t>Demetris </a:t>
            </a:r>
            <a:r>
              <a:rPr lang="en-US" dirty="0" err="1">
                <a:solidFill>
                  <a:schemeClr val="accent6"/>
                </a:solidFill>
              </a:rPr>
              <a:t>Paschalides</a:t>
            </a:r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2559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E9609-7661-4718-DC5B-69B792C0A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9287" y="798881"/>
            <a:ext cx="8673427" cy="104894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Table Of Contents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E6951C9-B560-3CA9-C1DD-386B5FA64B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8590539"/>
              </p:ext>
            </p:extLst>
          </p:nvPr>
        </p:nvGraphicFramePr>
        <p:xfrm>
          <a:off x="807722" y="1990976"/>
          <a:ext cx="10576558" cy="41754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325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1" name="Group 6150">
            <a:extLst>
              <a:ext uri="{FF2B5EF4-FFF2-40B4-BE49-F238E27FC236}">
                <a16:creationId xmlns:a16="http://schemas.microsoft.com/office/drawing/2014/main" id="{9AE27B9D-0F04-458B-A718-F84902C79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6152" name="Straight Connector 6151">
              <a:extLst>
                <a:ext uri="{FF2B5EF4-FFF2-40B4-BE49-F238E27FC236}">
                  <a16:creationId xmlns:a16="http://schemas.microsoft.com/office/drawing/2014/main" id="{47AB6435-428E-44C8-A107-8435183F6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3" name="Straight Connector 6152">
              <a:extLst>
                <a:ext uri="{FF2B5EF4-FFF2-40B4-BE49-F238E27FC236}">
                  <a16:creationId xmlns:a16="http://schemas.microsoft.com/office/drawing/2014/main" id="{3659658D-9AE1-44D3-B002-2BA204AB9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54" name="Rectangle 23">
              <a:extLst>
                <a:ext uri="{FF2B5EF4-FFF2-40B4-BE49-F238E27FC236}">
                  <a16:creationId xmlns:a16="http://schemas.microsoft.com/office/drawing/2014/main" id="{2083C874-CFCD-47ED-9F98-DDB125C9C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155" name="Rectangle 25">
              <a:extLst>
                <a:ext uri="{FF2B5EF4-FFF2-40B4-BE49-F238E27FC236}">
                  <a16:creationId xmlns:a16="http://schemas.microsoft.com/office/drawing/2014/main" id="{605E9946-A240-42E3-B6CD-E6691BF46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156" name="Isosceles Triangle 6155">
              <a:extLst>
                <a:ext uri="{FF2B5EF4-FFF2-40B4-BE49-F238E27FC236}">
                  <a16:creationId xmlns:a16="http://schemas.microsoft.com/office/drawing/2014/main" id="{315B1B45-25C3-4C58-8EB8-41BCFA02A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157" name="Rectangle 27">
              <a:extLst>
                <a:ext uri="{FF2B5EF4-FFF2-40B4-BE49-F238E27FC236}">
                  <a16:creationId xmlns:a16="http://schemas.microsoft.com/office/drawing/2014/main" id="{87983A9A-7A69-406F-AFEA-AD2AE87E1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158" name="Rectangle 28">
              <a:extLst>
                <a:ext uri="{FF2B5EF4-FFF2-40B4-BE49-F238E27FC236}">
                  <a16:creationId xmlns:a16="http://schemas.microsoft.com/office/drawing/2014/main" id="{FFCBC4EF-C03E-4EED-9E9A-3097DECC0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159" name="Rectangle 29">
              <a:extLst>
                <a:ext uri="{FF2B5EF4-FFF2-40B4-BE49-F238E27FC236}">
                  <a16:creationId xmlns:a16="http://schemas.microsoft.com/office/drawing/2014/main" id="{F56545EE-F94F-4B4C-AA43-9D6745664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160" name="Isosceles Triangle 6159">
              <a:extLst>
                <a:ext uri="{FF2B5EF4-FFF2-40B4-BE49-F238E27FC236}">
                  <a16:creationId xmlns:a16="http://schemas.microsoft.com/office/drawing/2014/main" id="{2FE2A6B2-D45B-484C-BAFD-3F45082664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161" name="Isosceles Triangle 6160">
              <a:extLst>
                <a:ext uri="{FF2B5EF4-FFF2-40B4-BE49-F238E27FC236}">
                  <a16:creationId xmlns:a16="http://schemas.microsoft.com/office/drawing/2014/main" id="{EC2132BF-207E-4FB2-B0FE-E6FD0A1D18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6146" name="Picture 2" descr="Social Media, Polarization, and the 2020 Presidential Election | Princeton  School of Public and International Affairs">
            <a:extLst>
              <a:ext uri="{FF2B5EF4-FFF2-40B4-BE49-F238E27FC236}">
                <a16:creationId xmlns:a16="http://schemas.microsoft.com/office/drawing/2014/main" id="{878C9EB2-B341-63BE-B703-912583FDC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60" t="4700" r="94"/>
          <a:stretch>
            <a:fillRect/>
          </a:stretch>
        </p:blipFill>
        <p:spPr bwMode="auto">
          <a:xfrm>
            <a:off x="1" y="10"/>
            <a:ext cx="1219199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63" name="Isosceles Triangle 6162">
            <a:extLst>
              <a:ext uri="{FF2B5EF4-FFF2-40B4-BE49-F238E27FC236}">
                <a16:creationId xmlns:a16="http://schemas.microsoft.com/office/drawing/2014/main" id="{6023515E-A695-47F8-A1D7-6FBC5C0EDB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165" name="Parallelogram 6164">
            <a:extLst>
              <a:ext uri="{FF2B5EF4-FFF2-40B4-BE49-F238E27FC236}">
                <a16:creationId xmlns:a16="http://schemas.microsoft.com/office/drawing/2014/main" id="{63558CD2-30CF-4237-B530-8AACD95835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84541" y="0"/>
            <a:ext cx="7315200" cy="6858000"/>
          </a:xfrm>
          <a:prstGeom prst="parallelogram">
            <a:avLst>
              <a:gd name="adj" fmla="val 14937"/>
            </a:avLst>
          </a:prstGeom>
          <a:solidFill>
            <a:schemeClr val="tx1">
              <a:alpha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67" name="Straight Connector 6166">
            <a:extLst>
              <a:ext uri="{FF2B5EF4-FFF2-40B4-BE49-F238E27FC236}">
                <a16:creationId xmlns:a16="http://schemas.microsoft.com/office/drawing/2014/main" id="{08E9F106-7CBF-402A-A9B7-8EC58D4B5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9" name="Straight Connector 6168">
            <a:extLst>
              <a:ext uri="{FF2B5EF4-FFF2-40B4-BE49-F238E27FC236}">
                <a16:creationId xmlns:a16="http://schemas.microsoft.com/office/drawing/2014/main" id="{37D6E0D2-3C3D-4C0E-A18E-08A1D2A2D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71" name="Rectangle 23">
            <a:extLst>
              <a:ext uri="{FF2B5EF4-FFF2-40B4-BE49-F238E27FC236}">
                <a16:creationId xmlns:a16="http://schemas.microsoft.com/office/drawing/2014/main" id="{4167283E-EB76-403A-BC80-285DBD4C3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173" name="Rectangle 25">
            <a:extLst>
              <a:ext uri="{FF2B5EF4-FFF2-40B4-BE49-F238E27FC236}">
                <a16:creationId xmlns:a16="http://schemas.microsoft.com/office/drawing/2014/main" id="{1ADF407D-FE97-417A-A0A3-42CA84250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175" name="Isosceles Triangle 6174">
            <a:extLst>
              <a:ext uri="{FF2B5EF4-FFF2-40B4-BE49-F238E27FC236}">
                <a16:creationId xmlns:a16="http://schemas.microsoft.com/office/drawing/2014/main" id="{5EF9B0C7-0806-4738-B48B-4D9D41B54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8BCEF3-EF23-09C2-AA4D-563132677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4200" y="1678665"/>
            <a:ext cx="4569803" cy="23691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dirty="0"/>
              <a:t>Introduction</a:t>
            </a:r>
            <a:endParaRPr lang="en-US" sz="5400"/>
          </a:p>
        </p:txBody>
      </p:sp>
      <p:sp>
        <p:nvSpPr>
          <p:cNvPr id="6177" name="Rectangle 27">
            <a:extLst>
              <a:ext uri="{FF2B5EF4-FFF2-40B4-BE49-F238E27FC236}">
                <a16:creationId xmlns:a16="http://schemas.microsoft.com/office/drawing/2014/main" id="{1DE42225-CC3C-4C3D-9B80-F36262C2C2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179" name="Rectangle 28">
            <a:extLst>
              <a:ext uri="{FF2B5EF4-FFF2-40B4-BE49-F238E27FC236}">
                <a16:creationId xmlns:a16="http://schemas.microsoft.com/office/drawing/2014/main" id="{DC75266A-36BA-4E57-B491-517652DB18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181" name="Rectangle 29">
            <a:extLst>
              <a:ext uri="{FF2B5EF4-FFF2-40B4-BE49-F238E27FC236}">
                <a16:creationId xmlns:a16="http://schemas.microsoft.com/office/drawing/2014/main" id="{AD3AB97B-33BC-46A1-93A3-B668C176E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183" name="Isosceles Triangle 6182">
            <a:extLst>
              <a:ext uri="{FF2B5EF4-FFF2-40B4-BE49-F238E27FC236}">
                <a16:creationId xmlns:a16="http://schemas.microsoft.com/office/drawing/2014/main" id="{CF29053C-B6DD-465F-8E05-BDACB3CF0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567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D7B8F8F-4528-4480-AFA3-A006195F5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900AEF-801C-E883-B01F-BA5D5CD85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US" dirty="0"/>
              <a:t>What is Polarization?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4F8B2185-AE38-43EA-9FA9-E5378AD73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0D36BD5A-BF22-48CD-8A55-28B19177C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65A7778F-4E16-2C52-21E0-788A65BDC4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329733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92712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F25506FD-983C-4F61-BDE3-1B3C16572E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38" name="Straight Connector 1037">
              <a:extLst>
                <a:ext uri="{FF2B5EF4-FFF2-40B4-BE49-F238E27FC236}">
                  <a16:creationId xmlns:a16="http://schemas.microsoft.com/office/drawing/2014/main" id="{5F71067D-AD1F-4EE2-8BF6-C4AC3C946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9" name="Straight Connector 1038">
              <a:extLst>
                <a:ext uri="{FF2B5EF4-FFF2-40B4-BE49-F238E27FC236}">
                  <a16:creationId xmlns:a16="http://schemas.microsoft.com/office/drawing/2014/main" id="{5DEF1FC4-ED49-4AF5-AFE2-7F4078B1DC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0" name="Rectangle 23">
              <a:extLst>
                <a:ext uri="{FF2B5EF4-FFF2-40B4-BE49-F238E27FC236}">
                  <a16:creationId xmlns:a16="http://schemas.microsoft.com/office/drawing/2014/main" id="{E66510A9-BF1C-4FAA-AA3F-A2EBB67F3F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41" name="Rectangle 25">
              <a:extLst>
                <a:ext uri="{FF2B5EF4-FFF2-40B4-BE49-F238E27FC236}">
                  <a16:creationId xmlns:a16="http://schemas.microsoft.com/office/drawing/2014/main" id="{BB502722-7F7E-428E-9254-FE72827D28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42" name="Isosceles Triangle 1041">
              <a:extLst>
                <a:ext uri="{FF2B5EF4-FFF2-40B4-BE49-F238E27FC236}">
                  <a16:creationId xmlns:a16="http://schemas.microsoft.com/office/drawing/2014/main" id="{17DA5560-5721-4BE6-B658-3B6516F34C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43" name="Rectangle 27">
              <a:extLst>
                <a:ext uri="{FF2B5EF4-FFF2-40B4-BE49-F238E27FC236}">
                  <a16:creationId xmlns:a16="http://schemas.microsoft.com/office/drawing/2014/main" id="{F91F14E0-F60D-43AA-8C3F-A462433C8A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44" name="Rectangle 28">
              <a:extLst>
                <a:ext uri="{FF2B5EF4-FFF2-40B4-BE49-F238E27FC236}">
                  <a16:creationId xmlns:a16="http://schemas.microsoft.com/office/drawing/2014/main" id="{C23E0D22-E6E8-40D3-86AE-FF7A6A5DB1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45" name="Rectangle 29">
              <a:extLst>
                <a:ext uri="{FF2B5EF4-FFF2-40B4-BE49-F238E27FC236}">
                  <a16:creationId xmlns:a16="http://schemas.microsoft.com/office/drawing/2014/main" id="{2E4C8008-AEAB-4CD4-982E-C6F35EFD3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46" name="Isosceles Triangle 1045">
              <a:extLst>
                <a:ext uri="{FF2B5EF4-FFF2-40B4-BE49-F238E27FC236}">
                  <a16:creationId xmlns:a16="http://schemas.microsoft.com/office/drawing/2014/main" id="{7A1059CC-B955-40F4-9DA4-7F305F11DD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47" name="Isosceles Triangle 1046">
              <a:extLst>
                <a:ext uri="{FF2B5EF4-FFF2-40B4-BE49-F238E27FC236}">
                  <a16:creationId xmlns:a16="http://schemas.microsoft.com/office/drawing/2014/main" id="{0096171F-0AF7-4BC2-B2A6-927C92FEA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1032" name="Picture 8" descr="Cut out of Joe Biden and Donald Trump facing each other with shape of donkey and elephant head in background.">
            <a:extLst>
              <a:ext uri="{FF2B5EF4-FFF2-40B4-BE49-F238E27FC236}">
                <a16:creationId xmlns:a16="http://schemas.microsoft.com/office/drawing/2014/main" id="{6178AAB8-AE21-5122-B732-EFCAE69367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70" r="28803"/>
          <a:stretch>
            <a:fillRect/>
          </a:stretch>
        </p:blipFill>
        <p:spPr bwMode="auto">
          <a:xfrm>
            <a:off x="1" y="10"/>
            <a:ext cx="4319259" cy="6857990"/>
          </a:xfrm>
          <a:custGeom>
            <a:avLst/>
            <a:gdLst/>
            <a:ahLst/>
            <a:cxnLst/>
            <a:rect l="l" t="t" r="r" b="b"/>
            <a:pathLst>
              <a:path w="4319259" h="6858000">
                <a:moveTo>
                  <a:pt x="0" y="0"/>
                </a:moveTo>
                <a:lnTo>
                  <a:pt x="4319259" y="0"/>
                </a:lnTo>
                <a:lnTo>
                  <a:pt x="4290943" y="189570"/>
                </a:lnTo>
                <a:lnTo>
                  <a:pt x="4287560" y="189570"/>
                </a:lnTo>
                <a:lnTo>
                  <a:pt x="3291496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9" name="Isosceles Triangle 30">
            <a:extLst>
              <a:ext uri="{FF2B5EF4-FFF2-40B4-BE49-F238E27FC236}">
                <a16:creationId xmlns:a16="http://schemas.microsoft.com/office/drawing/2014/main" id="{CE702CEE-5F27-4790-AABA-3CC15B036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028" name="Picture 4" descr="Algerian Boxer Imane Khelif Wins Olympic Gold After Gender Uproar">
            <a:extLst>
              <a:ext uri="{FF2B5EF4-FFF2-40B4-BE49-F238E27FC236}">
                <a16:creationId xmlns:a16="http://schemas.microsoft.com/office/drawing/2014/main" id="{DDA39497-601C-0A5B-2F75-7434E8E06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01" r="18975" b="-1"/>
          <a:stretch>
            <a:fillRect/>
          </a:stretch>
        </p:blipFill>
        <p:spPr bwMode="auto">
          <a:xfrm>
            <a:off x="3294151" y="10"/>
            <a:ext cx="4820935" cy="6857990"/>
          </a:xfrm>
          <a:custGeom>
            <a:avLst/>
            <a:gdLst/>
            <a:ahLst/>
            <a:cxnLst/>
            <a:rect l="l" t="t" r="r" b="b"/>
            <a:pathLst>
              <a:path w="4820935" h="6858000">
                <a:moveTo>
                  <a:pt x="1027763" y="0"/>
                </a:moveTo>
                <a:lnTo>
                  <a:pt x="4820935" y="0"/>
                </a:lnTo>
                <a:lnTo>
                  <a:pt x="4792619" y="189570"/>
                </a:lnTo>
                <a:lnTo>
                  <a:pt x="4789235" y="189570"/>
                </a:lnTo>
                <a:lnTo>
                  <a:pt x="3793172" y="6858000"/>
                </a:lnTo>
                <a:lnTo>
                  <a:pt x="0" y="6858000"/>
                </a:lnTo>
                <a:lnTo>
                  <a:pt x="26598" y="6679936"/>
                </a:lnTo>
                <a:lnTo>
                  <a:pt x="29982" y="6679936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ited Kingdom Sales Strategies Post-Brexit | Allego">
            <a:extLst>
              <a:ext uri="{FF2B5EF4-FFF2-40B4-BE49-F238E27FC236}">
                <a16:creationId xmlns:a16="http://schemas.microsoft.com/office/drawing/2014/main" id="{8204503C-BCA5-BC7B-BEED-07CA0397B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41" r="30185"/>
          <a:stretch>
            <a:fillRect/>
          </a:stretch>
        </p:blipFill>
        <p:spPr bwMode="auto">
          <a:xfrm>
            <a:off x="7086750" y="10"/>
            <a:ext cx="5105250" cy="6857990"/>
          </a:xfrm>
          <a:custGeom>
            <a:avLst/>
            <a:gdLst/>
            <a:ahLst/>
            <a:cxnLst/>
            <a:rect l="l" t="t" r="r" b="b"/>
            <a:pathLst>
              <a:path w="5105250" h="6858000">
                <a:moveTo>
                  <a:pt x="1027763" y="0"/>
                </a:moveTo>
                <a:lnTo>
                  <a:pt x="5105250" y="0"/>
                </a:lnTo>
                <a:lnTo>
                  <a:pt x="5105250" y="6858000"/>
                </a:lnTo>
                <a:lnTo>
                  <a:pt x="0" y="6858000"/>
                </a:lnTo>
                <a:lnTo>
                  <a:pt x="26597" y="6679936"/>
                </a:lnTo>
                <a:lnTo>
                  <a:pt x="29981" y="6679936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1" name="Freeform 52">
            <a:extLst>
              <a:ext uri="{FF2B5EF4-FFF2-40B4-BE49-F238E27FC236}">
                <a16:creationId xmlns:a16="http://schemas.microsoft.com/office/drawing/2014/main" id="{3F83EDCA-FD68-43BD-9009-8ADC9AF04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649" y="3576484"/>
            <a:ext cx="8522979" cy="3281517"/>
          </a:xfrm>
          <a:custGeom>
            <a:avLst/>
            <a:gdLst>
              <a:gd name="connsiteX0" fmla="*/ 8516100 w 8522979"/>
              <a:gd name="connsiteY0" fmla="*/ 0 h 3281517"/>
              <a:gd name="connsiteX1" fmla="*/ 8522979 w 8522979"/>
              <a:gd name="connsiteY1" fmla="*/ 3281517 h 3281517"/>
              <a:gd name="connsiteX2" fmla="*/ 650153 w 8522979"/>
              <a:gd name="connsiteY2" fmla="*/ 3281517 h 3281517"/>
              <a:gd name="connsiteX3" fmla="*/ 0 w 8522979"/>
              <a:gd name="connsiteY3" fmla="*/ 3003752 h 3281517"/>
              <a:gd name="connsiteX4" fmla="*/ 879142 w 8522979"/>
              <a:gd name="connsiteY4" fmla="*/ 690551 h 3281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22979" h="3281517">
                <a:moveTo>
                  <a:pt x="8516100" y="0"/>
                </a:moveTo>
                <a:lnTo>
                  <a:pt x="8522979" y="3281517"/>
                </a:lnTo>
                <a:lnTo>
                  <a:pt x="650153" y="3281517"/>
                </a:lnTo>
                <a:lnTo>
                  <a:pt x="0" y="3003752"/>
                </a:lnTo>
                <a:lnTo>
                  <a:pt x="879142" y="690551"/>
                </a:lnTo>
                <a:close/>
              </a:path>
            </a:pathLst>
          </a:custGeom>
          <a:solidFill>
            <a:schemeClr val="tx1">
              <a:alpha val="8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3" name="Straight Connector 1052">
            <a:extLst>
              <a:ext uri="{FF2B5EF4-FFF2-40B4-BE49-F238E27FC236}">
                <a16:creationId xmlns:a16="http://schemas.microsoft.com/office/drawing/2014/main" id="{7762AEA6-6660-4A42-BCD9-6B5469589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5" name="Straight Connector 1054">
            <a:extLst>
              <a:ext uri="{FF2B5EF4-FFF2-40B4-BE49-F238E27FC236}">
                <a16:creationId xmlns:a16="http://schemas.microsoft.com/office/drawing/2014/main" id="{424AEFD8-7B68-40E4-9B9F-B875BD77B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7" name="Rectangle 23">
            <a:extLst>
              <a:ext uri="{FF2B5EF4-FFF2-40B4-BE49-F238E27FC236}">
                <a16:creationId xmlns:a16="http://schemas.microsoft.com/office/drawing/2014/main" id="{03FBEDB1-9A00-4B29-8B32-9E6AD3F0E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59" name="Rectangle 25">
            <a:extLst>
              <a:ext uri="{FF2B5EF4-FFF2-40B4-BE49-F238E27FC236}">
                <a16:creationId xmlns:a16="http://schemas.microsoft.com/office/drawing/2014/main" id="{E4632C46-3B9E-4C42-B6BC-30B7A443B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61" name="Isosceles Triangle 24">
            <a:extLst>
              <a:ext uri="{FF2B5EF4-FFF2-40B4-BE49-F238E27FC236}">
                <a16:creationId xmlns:a16="http://schemas.microsoft.com/office/drawing/2014/main" id="{1486D34D-EC57-4B1F-A04F-EE8B9E09C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9ECCDC-6CAD-BFDC-A6C0-620FCE961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2401" y="4267831"/>
            <a:ext cx="5181601" cy="132967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400" dirty="0"/>
              <a:t>Real World examples of Polarization</a:t>
            </a:r>
          </a:p>
        </p:txBody>
      </p:sp>
      <p:sp>
        <p:nvSpPr>
          <p:cNvPr id="1063" name="Rectangle 27">
            <a:extLst>
              <a:ext uri="{FF2B5EF4-FFF2-40B4-BE49-F238E27FC236}">
                <a16:creationId xmlns:a16="http://schemas.microsoft.com/office/drawing/2014/main" id="{CE7F5209-2FC9-44C8-9B3B-925C701B9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65" name="Rectangle 28">
            <a:extLst>
              <a:ext uri="{FF2B5EF4-FFF2-40B4-BE49-F238E27FC236}">
                <a16:creationId xmlns:a16="http://schemas.microsoft.com/office/drawing/2014/main" id="{842E996D-2BDC-413B-9B31-2F0160AF1A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67" name="Rectangle 29">
            <a:extLst>
              <a:ext uri="{FF2B5EF4-FFF2-40B4-BE49-F238E27FC236}">
                <a16:creationId xmlns:a16="http://schemas.microsoft.com/office/drawing/2014/main" id="{30413AA9-DC6A-435D-8CE9-50CF840BCC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69" name="Isosceles Triangle 29">
            <a:extLst>
              <a:ext uri="{FF2B5EF4-FFF2-40B4-BE49-F238E27FC236}">
                <a16:creationId xmlns:a16="http://schemas.microsoft.com/office/drawing/2014/main" id="{F7ABA577-6102-40EF-AE23-48860571A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22AB9-03F1-EACC-6653-7F49E358CED4}"/>
              </a:ext>
            </a:extLst>
          </p:cNvPr>
          <p:cNvSpPr txBox="1"/>
          <p:nvPr/>
        </p:nvSpPr>
        <p:spPr>
          <a:xfrm>
            <a:off x="4092401" y="5722261"/>
            <a:ext cx="27286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US Elections 2024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France Olympics 2024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Brexit 2016-2020</a:t>
            </a:r>
          </a:p>
        </p:txBody>
      </p:sp>
    </p:spTree>
    <p:extLst>
      <p:ext uri="{BB962C8B-B14F-4D97-AF65-F5344CB8AC3E}">
        <p14:creationId xmlns:p14="http://schemas.microsoft.com/office/powerpoint/2010/main" val="3771062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36F74-715D-1F26-DFE1-CE35DCE36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POLAR Framework</a:t>
            </a:r>
          </a:p>
        </p:txBody>
      </p:sp>
      <p:pic>
        <p:nvPicPr>
          <p:cNvPr id="4" name="Content Placeholder 3" descr="Diagram&#10;&#10;Description automatically generated">
            <a:extLst>
              <a:ext uri="{FF2B5EF4-FFF2-40B4-BE49-F238E27FC236}">
                <a16:creationId xmlns:a16="http://schemas.microsoft.com/office/drawing/2014/main" id="{ED2E6310-FF4E-9247-E371-99096C4E42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7589" y="1930400"/>
            <a:ext cx="11496821" cy="2500559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68C559-B42E-000C-E1EB-7E1D10DDB657}"/>
              </a:ext>
            </a:extLst>
          </p:cNvPr>
          <p:cNvSpPr txBox="1"/>
          <p:nvPr/>
        </p:nvSpPr>
        <p:spPr>
          <a:xfrm>
            <a:off x="677334" y="4679349"/>
            <a:ext cx="104422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333333"/>
                </a:solidFill>
                <a:latin typeface="+mj-lt"/>
              </a:rPr>
              <a:t>POLAR - an unsupervised, large-scale framework for modeling and identifying polarizing topics 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+mj-lt"/>
              </a:rPr>
              <a:t>In any domain without prior domain-specific knowledge[1]. Constructing a Hierarchical knowledge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+mj-lt"/>
              </a:rPr>
              <a:t>Graph</a:t>
            </a:r>
            <a:r>
              <a:rPr lang="en-US" dirty="0">
                <a:solidFill>
                  <a:srgbClr val="333333"/>
                </a:solidFill>
                <a:latin typeface="+mj-lt"/>
              </a:rPr>
              <a:t> modeling Polarization[1].</a:t>
            </a:r>
            <a:r>
              <a:rPr lang="en-US" b="0" i="0" dirty="0">
                <a:solidFill>
                  <a:srgbClr val="333333"/>
                </a:solidFill>
                <a:effectLst/>
                <a:latin typeface="+mj-lt"/>
              </a:rPr>
              <a:t> 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56389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F5275-3DDF-5872-B175-DE65F33DF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POLAR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4ACB6-3862-D499-9FB7-3D0D9B93B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22923"/>
            <a:ext cx="10632350" cy="431844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900" dirty="0"/>
              <a:t>Entity/Noun Phrase Extraction rely on </a:t>
            </a:r>
            <a:r>
              <a:rPr lang="en-US" sz="1900" dirty="0" err="1"/>
              <a:t>SpaCy</a:t>
            </a:r>
            <a:r>
              <a:rPr lang="en-US" sz="1900" dirty="0"/>
              <a:t>, an NLP component error prone to </a:t>
            </a:r>
            <a:r>
              <a:rPr lang="en-US" sz="1900" b="1" dirty="0"/>
              <a:t>Dictionary errors </a:t>
            </a:r>
            <a:r>
              <a:rPr lang="en-US" sz="1900" dirty="0"/>
              <a:t>and </a:t>
            </a:r>
            <a:r>
              <a:rPr lang="en-US" sz="1900" b="1" dirty="0"/>
              <a:t>Dependency Parsing Errors: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Example:</a:t>
            </a:r>
            <a:endParaRPr lang="en-CY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	entity1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“Howard” -&gt; reference: "</a:t>
            </a:r>
            <a:r>
              <a:rPr lang="en-US" sz="1800" u="sng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http://dbpedia.org/resource/John_Howard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 </a:t>
            </a:r>
            <a:b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entity2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 "Schneider" -&gt; reference: “</a:t>
            </a:r>
            <a:r>
              <a:rPr lang="en-US" sz="1800" u="sng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http://dbpedia.org/resource/</a:t>
            </a:r>
            <a:r>
              <a:rPr lang="en-US" sz="1800" u="sng" kern="100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Schneider_Electric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b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Sentence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“…Parliament Square in London Thomson Reuters By David Lawder and Howard Schneider Advertisement WASHINGTON (Reuters)…"</a:t>
            </a:r>
            <a:endParaRPr lang="en-CY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Problem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Assigns Pair Howard -&gt; Schneider when Howard Schneider is the full name of the person</a:t>
            </a:r>
            <a:endParaRPr lang="en-CY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Dependency Parsing Error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: Splits “Howard Schneider” into “Howard” and “Schneider” and assigns different </a:t>
            </a:r>
            <a:b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links to them (“John_Howard” and “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Schneider_Electric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”).</a:t>
            </a:r>
          </a:p>
          <a:p>
            <a:pPr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Dictionary Error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: Does not correctly link the Entity “Howard Schneider” to a pre-existing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dbpedia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link, as it does not exist.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135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167624-3D20-980D-ABF6-0F2D1EABF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9DB96-FB40-24D7-E66B-8730DE1DA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344011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 dirty="0">
                <a:solidFill>
                  <a:schemeClr val="bg1"/>
                </a:solidFill>
              </a:rPr>
              <a:t>Address the limitations of the POLAR Pipeline</a:t>
            </a:r>
          </a:p>
          <a:p>
            <a:pPr>
              <a:lnSpc>
                <a:spcPct val="90000"/>
              </a:lnSpc>
            </a:pPr>
            <a:endParaRPr lang="en-US" sz="17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700" dirty="0">
                <a:solidFill>
                  <a:schemeClr val="bg1"/>
                </a:solidFill>
              </a:rPr>
              <a:t>Integrate LLMs into the POLAR Pipeline for Attitude Detection</a:t>
            </a:r>
          </a:p>
          <a:p>
            <a:pPr marL="0" indent="0">
              <a:lnSpc>
                <a:spcPct val="90000"/>
              </a:lnSpc>
              <a:buNone/>
            </a:pPr>
            <a:endParaRPr lang="en-US" sz="17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700" dirty="0">
                <a:solidFill>
                  <a:schemeClr val="bg1"/>
                </a:solidFill>
              </a:rPr>
              <a:t>Evaluate the Effectiveness of LLMs in detecting Polarization.</a:t>
            </a:r>
          </a:p>
          <a:p>
            <a:pPr>
              <a:lnSpc>
                <a:spcPct val="90000"/>
              </a:lnSpc>
            </a:pPr>
            <a:endParaRPr lang="en-US" sz="17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700" dirty="0">
                <a:solidFill>
                  <a:schemeClr val="bg1"/>
                </a:solidFill>
              </a:rPr>
              <a:t>Fine-Tune Mistral to replicate GPT locally</a:t>
            </a:r>
          </a:p>
          <a:p>
            <a:pPr>
              <a:lnSpc>
                <a:spcPct val="90000"/>
              </a:lnSpc>
            </a:pPr>
            <a:endParaRPr lang="en-US" sz="1700" dirty="0">
              <a:solidFill>
                <a:schemeClr val="bg1"/>
              </a:solidFill>
            </a:endParaRPr>
          </a:p>
        </p:txBody>
      </p:sp>
      <p:pic>
        <p:nvPicPr>
          <p:cNvPr id="4" name="Picture 3" descr="A diagram of a company&#10;&#10;AI-generated content may be incorrect.">
            <a:extLst>
              <a:ext uri="{FF2B5EF4-FFF2-40B4-BE49-F238E27FC236}">
                <a16:creationId xmlns:a16="http://schemas.microsoft.com/office/drawing/2014/main" id="{DE3A7A3B-CC24-009F-43A2-3B34FDBF01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31310" y="76117"/>
            <a:ext cx="3805518" cy="6705760"/>
          </a:xfrm>
          <a:prstGeom prst="rect">
            <a:avLst/>
          </a:prstGeom>
          <a:noFill/>
        </p:spPr>
      </p:pic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627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B1E62-0B5A-0418-F7F0-B9413E40D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6047" y="609600"/>
            <a:ext cx="6487955" cy="1320800"/>
          </a:xfrm>
        </p:spPr>
        <p:txBody>
          <a:bodyPr>
            <a:normAutofit/>
          </a:bodyPr>
          <a:lstStyle/>
          <a:p>
            <a:r>
              <a:rPr lang="en-US" dirty="0"/>
              <a:t>Large Language Models (LLMs)</a:t>
            </a:r>
          </a:p>
        </p:txBody>
      </p:sp>
      <p:pic>
        <p:nvPicPr>
          <p:cNvPr id="5" name="Picture 4" descr="A close up of a circuit board&#10;&#10;AI-generated content may be incorrect.">
            <a:extLst>
              <a:ext uri="{FF2B5EF4-FFF2-40B4-BE49-F238E27FC236}">
                <a16:creationId xmlns:a16="http://schemas.microsoft.com/office/drawing/2014/main" id="{757019C5-635C-207F-2C71-F6445BC453A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</a:blip>
          <a:srcRect l="44469" r="33166" b="-1"/>
          <a:stretch>
            <a:fillRect/>
          </a:stretch>
        </p:blipFill>
        <p:spPr>
          <a:xfrm>
            <a:off x="20" y="10"/>
            <a:ext cx="2734036" cy="6876278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842596" y="6858000"/>
                </a:lnTo>
                <a:lnTo>
                  <a:pt x="0" y="1191846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58CB4BA4-5207-43FB-9FA5-62223EF71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1191846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04BDB-B98B-7644-40F2-561A1769E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6047" y="2160589"/>
            <a:ext cx="6487955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b="1" dirty="0"/>
              <a:t>LLMs attempted for this thesis include: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GPT-3.5-turbo</a:t>
            </a:r>
          </a:p>
          <a:p>
            <a:endParaRPr lang="en-US" dirty="0"/>
          </a:p>
          <a:p>
            <a:r>
              <a:rPr lang="en-US" dirty="0"/>
              <a:t>A Fine-Tuned model of Mistral-7B</a:t>
            </a:r>
          </a:p>
          <a:p>
            <a:endParaRPr lang="en-US" dirty="0"/>
          </a:p>
          <a:p>
            <a:r>
              <a:rPr lang="en-US" dirty="0"/>
              <a:t>Deepseek-R1-8B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130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B727EA-8585-6483-57E5-03C97B16E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/>
              <a:t>GPT-3.5-turbo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527B3-7892-B612-1436-6D2FE20AD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2" y="2160589"/>
            <a:ext cx="8596668" cy="3880773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  <a:ea typeface="Aptos" panose="020B0004020202020204" pitchFamily="34" charset="0"/>
              </a:rPr>
              <a:t>P</a:t>
            </a:r>
            <a:r>
              <a:rPr lang="en-US" dirty="0">
                <a:effectLst/>
                <a:latin typeface="+mj-lt"/>
                <a:ea typeface="Aptos" panose="020B0004020202020204" pitchFamily="34" charset="0"/>
              </a:rPr>
              <a:t>owerful closed-source model by OpenAI, optimized for fast and cost-effective inference via API, with capabilities in various NLP tasks [9].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Used as the Benchmark for other LLMs for this thesis, follows the prompt very well.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Currently ~64.7% slower than POLAR, approximately </a:t>
            </a:r>
            <a:r>
              <a:rPr lang="en-US" b="1" dirty="0">
                <a:latin typeface="+mj-lt"/>
              </a:rPr>
              <a:t>18.26 seconds </a:t>
            </a:r>
            <a:r>
              <a:rPr lang="en-US" dirty="0">
                <a:latin typeface="+mj-lt"/>
              </a:rPr>
              <a:t>vs POLAR’s </a:t>
            </a:r>
            <a:r>
              <a:rPr lang="en-US" b="1" dirty="0">
                <a:latin typeface="+mj-lt"/>
              </a:rPr>
              <a:t>11.82 seconds </a:t>
            </a:r>
            <a:r>
              <a:rPr lang="en-US" dirty="0">
                <a:latin typeface="+mj-lt"/>
              </a:rPr>
              <a:t>per-article.</a:t>
            </a: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5953CF8-11F5-105B-0EED-A14BA1D029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2831" y="711501"/>
            <a:ext cx="992887" cy="55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9221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8884A-5BAC-2750-7802-57CB045C9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Deepseek-R1-8B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5DA6D-F868-2D25-50F5-7347A3507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ea typeface="Aptos" panose="020B0004020202020204" pitchFamily="34" charset="0"/>
              </a:rPr>
              <a:t>R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ecent open-source model developed by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Deepseek</a:t>
            </a:r>
            <a:r>
              <a:rPr lang="en-US" dirty="0">
                <a:latin typeface="Times New Roman" panose="02020603050405020304" pitchFamily="18" charset="0"/>
                <a:ea typeface="Aptos" panose="020B0004020202020204" pitchFamily="34" charset="0"/>
              </a:rPr>
              <a:t>, excelling at instruction following and reasoning [8].</a:t>
            </a:r>
          </a:p>
          <a:p>
            <a:endParaRPr lang="en-US" dirty="0">
              <a:latin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</a:rPr>
              <a:t>Yielded promising results, similar to GPT, following the prompt well, while being local.</a:t>
            </a:r>
          </a:p>
          <a:p>
            <a:endParaRPr lang="en-US" dirty="0"/>
          </a:p>
          <a:p>
            <a:r>
              <a:rPr lang="en-US" dirty="0"/>
              <a:t>Extremely slow implementation (~ 17-30 minutes per article).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4A4D581-83B5-4791-DF2D-9908676FB4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7540" y="497541"/>
            <a:ext cx="1060729" cy="1060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403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DFC261-9B03-7A6D-0D90-3393CFB4B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/>
              <a:t>Fine-Tuned Mistral-7B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EA518-BCCC-02FB-3B5A-655C139F8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2" y="2160589"/>
            <a:ext cx="8596668" cy="3880773"/>
          </a:xfrm>
        </p:spPr>
        <p:txBody>
          <a:bodyPr>
            <a:normAutofit/>
          </a:bodyPr>
          <a:lstStyle/>
          <a:p>
            <a:r>
              <a:rPr lang="en-US" dirty="0"/>
              <a:t>Fine-Tuned the Open-Weight Mistral model using the GPT Responses as a training set to achieve a similar performance.</a:t>
            </a:r>
          </a:p>
          <a:p>
            <a:endParaRPr lang="en-US" dirty="0"/>
          </a:p>
          <a:p>
            <a:r>
              <a:rPr lang="en-US" dirty="0"/>
              <a:t>Fine-Tuning performed using Low Rank Adaptation (LoRa).</a:t>
            </a:r>
          </a:p>
          <a:p>
            <a:endParaRPr lang="en-US" dirty="0"/>
          </a:p>
          <a:p>
            <a:r>
              <a:rPr lang="en-US" dirty="0"/>
              <a:t>Slow but Local implementation: ~1-2 minutes per-article</a:t>
            </a: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074" name="Picture 2" descr="Mistral Ai icon SVG Vector &amp; PNG Free Download | UXWing">
            <a:extLst>
              <a:ext uri="{FF2B5EF4-FFF2-40B4-BE49-F238E27FC236}">
                <a16:creationId xmlns:a16="http://schemas.microsoft.com/office/drawing/2014/main" id="{4968E1A4-8057-8251-A26E-6B2C0A391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393" y="609600"/>
            <a:ext cx="627810" cy="627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6017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83" name="Isosceles Triangle 3082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3DE94E-EA81-18C7-7CAF-2CA97FC87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BC398-1D90-C7A9-66AF-D8159CD3D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34401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Utilizing LLMs, Attempt to gather all the data computed by the NLP POLAR tasks and Calculate Sentiment.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Inject the information in the POLAR Pipeline.</a:t>
            </a:r>
          </a:p>
        </p:txBody>
      </p:sp>
      <p:pic>
        <p:nvPicPr>
          <p:cNvPr id="3074" name="Picture 2" descr="A diagram of a data flow&#10;&#10;AI-generated content may be incorrect.">
            <a:extLst>
              <a:ext uri="{FF2B5EF4-FFF2-40B4-BE49-F238E27FC236}">
                <a16:creationId xmlns:a16="http://schemas.microsoft.com/office/drawing/2014/main" id="{A8E63313-8CFA-A8E7-B3FF-7A37624D7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84778" y="282388"/>
            <a:ext cx="6402326" cy="6338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5" name="Isosceles Triangle 3084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254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7ABB2-247D-5479-09C0-74BC762E0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9123" y="609600"/>
            <a:ext cx="4924878" cy="1320800"/>
          </a:xfrm>
        </p:spPr>
        <p:txBody>
          <a:bodyPr anchor="ctr">
            <a:normAutofit/>
          </a:bodyPr>
          <a:lstStyle/>
          <a:p>
            <a:r>
              <a:rPr lang="en-US" dirty="0"/>
              <a:t>Article Gathering</a:t>
            </a:r>
          </a:p>
        </p:txBody>
      </p:sp>
      <p:pic>
        <p:nvPicPr>
          <p:cNvPr id="5124" name="Picture 4" descr="A diagram of a software model&#10;&#10;AI-generated content may be incorrect.">
            <a:extLst>
              <a:ext uri="{FF2B5EF4-FFF2-40B4-BE49-F238E27FC236}">
                <a16:creationId xmlns:a16="http://schemas.microsoft.com/office/drawing/2014/main" id="{5ED08384-11B8-1A92-AF68-759D180BB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2013" y="609600"/>
            <a:ext cx="3268552" cy="5915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B708C-33AD-85DA-2DE1-E0C87AC4D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9123" y="2160590"/>
            <a:ext cx="4921876" cy="3739698"/>
          </a:xfrm>
        </p:spPr>
        <p:txBody>
          <a:bodyPr>
            <a:normAutofit/>
          </a:bodyPr>
          <a:lstStyle/>
          <a:p>
            <a:r>
              <a:rPr lang="en-US" dirty="0"/>
              <a:t>Utilizes POLAR’s News Corpus Collector to gather Articles from the GDELT Database</a:t>
            </a:r>
          </a:p>
          <a:p>
            <a:endParaRPr lang="en-US" dirty="0"/>
          </a:p>
          <a:p>
            <a:r>
              <a:rPr lang="en-US" dirty="0"/>
              <a:t>Articles Split to fit Window size of LLMs</a:t>
            </a:r>
          </a:p>
          <a:p>
            <a:endParaRPr lang="en-US" dirty="0"/>
          </a:p>
          <a:p>
            <a:r>
              <a:rPr lang="en-US" dirty="0"/>
              <a:t>Uses </a:t>
            </a:r>
            <a:r>
              <a:rPr lang="en-US" dirty="0" err="1"/>
              <a:t>LangChain</a:t>
            </a:r>
            <a:r>
              <a:rPr lang="en-US" dirty="0"/>
              <a:t> to Semantically split Articles</a:t>
            </a:r>
          </a:p>
        </p:txBody>
      </p:sp>
    </p:spTree>
    <p:extLst>
      <p:ext uri="{BB962C8B-B14F-4D97-AF65-F5344CB8AC3E}">
        <p14:creationId xmlns:p14="http://schemas.microsoft.com/office/powerpoint/2010/main" val="2441091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AB781-1410-D816-1AAA-BD908FAC1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6" y="609600"/>
            <a:ext cx="3729076" cy="1320800"/>
          </a:xfrm>
        </p:spPr>
        <p:txBody>
          <a:bodyPr anchor="ctr">
            <a:normAutofit/>
          </a:bodyPr>
          <a:lstStyle/>
          <a:p>
            <a:r>
              <a:rPr lang="en-US" dirty="0"/>
              <a:t>LLM Communicator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B09F0-15A4-5A77-C305-087386858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167" y="2160589"/>
            <a:ext cx="3720916" cy="356073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This component is responsible for Communicating with the Large Language Model (LLM).</a:t>
            </a:r>
            <a:endParaRPr lang="en-US"/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 dirty="0"/>
              <a:t>Sequentially Request the API or execute locally depending on the LLM, combining Prompt and Article as the payload.</a:t>
            </a:r>
            <a:endParaRPr lang="en-US"/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 dirty="0"/>
              <a:t>Save the LLM Responses as Json files per-article</a:t>
            </a:r>
            <a:endParaRPr lang="en-US"/>
          </a:p>
        </p:txBody>
      </p:sp>
      <p:pic>
        <p:nvPicPr>
          <p:cNvPr id="4098" name="Picture 2" descr="A diagram of a flowchart&#10;&#10;AI-generated content may be incorrect.">
            <a:extLst>
              <a:ext uri="{FF2B5EF4-FFF2-40B4-BE49-F238E27FC236}">
                <a16:creationId xmlns:a16="http://schemas.microsoft.com/office/drawing/2014/main" id="{AFE21B76-6A6B-068B-600E-30BDA68D18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035" y="1042210"/>
            <a:ext cx="4602747" cy="4269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73549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A3E6C-D165-AD8D-9A22-8CF2B6997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6" y="609600"/>
            <a:ext cx="3729076" cy="1320800"/>
          </a:xfrm>
        </p:spPr>
        <p:txBody>
          <a:bodyPr anchor="ctr">
            <a:normAutofit/>
          </a:bodyPr>
          <a:lstStyle/>
          <a:p>
            <a:r>
              <a:rPr lang="en-US" dirty="0"/>
              <a:t>LLM Authenticator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BDFB5-BFFC-2AB2-E6E0-8F9F4FE87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167" y="2160589"/>
            <a:ext cx="4303692" cy="39712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Important step, validating LLM Responses:</a:t>
            </a:r>
          </a:p>
          <a:p>
            <a:endParaRPr lang="en-US" dirty="0"/>
          </a:p>
          <a:p>
            <a:r>
              <a:rPr lang="en-US" dirty="0"/>
              <a:t>Check for Malformed Structure</a:t>
            </a:r>
          </a:p>
          <a:p>
            <a:endParaRPr lang="en-US" dirty="0"/>
          </a:p>
          <a:p>
            <a:r>
              <a:rPr lang="en-US" dirty="0"/>
              <a:t>Remove Comments</a:t>
            </a:r>
          </a:p>
          <a:p>
            <a:endParaRPr lang="en-US" dirty="0"/>
          </a:p>
          <a:p>
            <a:r>
              <a:rPr lang="en-US" dirty="0"/>
              <a:t>Check Formatting</a:t>
            </a:r>
          </a:p>
          <a:p>
            <a:endParaRPr lang="en-US" dirty="0"/>
          </a:p>
          <a:p>
            <a:r>
              <a:rPr lang="en-US" dirty="0"/>
              <a:t>Normalize Names and Topics</a:t>
            </a:r>
          </a:p>
          <a:p>
            <a:endParaRPr lang="en-US" dirty="0"/>
          </a:p>
        </p:txBody>
      </p:sp>
      <p:pic>
        <p:nvPicPr>
          <p:cNvPr id="6146" name="Picture 2" descr="A diagram of a flowchart&#10;&#10;AI-generated content may be incorrect.">
            <a:extLst>
              <a:ext uri="{FF2B5EF4-FFF2-40B4-BE49-F238E27FC236}">
                <a16:creationId xmlns:a16="http://schemas.microsoft.com/office/drawing/2014/main" id="{AB26A101-485A-FB59-4FD9-12EFCF001C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36801" y="632144"/>
            <a:ext cx="3123105" cy="5601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9259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07B6F-8E62-18CA-C51D-32AFE5AAE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6" y="609600"/>
            <a:ext cx="3729076" cy="1320800"/>
          </a:xfrm>
        </p:spPr>
        <p:txBody>
          <a:bodyPr anchor="ctr">
            <a:normAutofit/>
          </a:bodyPr>
          <a:lstStyle/>
          <a:p>
            <a:r>
              <a:rPr lang="en-US"/>
              <a:t>Injection into POLAR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348F3-B89C-88AE-6711-4D64CC549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167" y="2160589"/>
            <a:ext cx="3720916" cy="35607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LLM Responses are Restructured to follow POLAR’s structure and replace the Sentiment Attitude Calculations of POLAR and continue the Pipeline like normal.</a:t>
            </a:r>
          </a:p>
        </p:txBody>
      </p:sp>
      <p:pic>
        <p:nvPicPr>
          <p:cNvPr id="5122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35B71926-31AE-156A-D470-3435C0E6CB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33012" y="1246331"/>
            <a:ext cx="4960612" cy="4365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02242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E6EA84-9251-5466-02A8-977F47E1F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D7848-1799-DE13-C95C-D75EDB5B4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877" y="2147143"/>
            <a:ext cx="4660126" cy="380990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Evaluate the Models’ performance compared to each other.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Evaluation was done on a dataset of ~400 articles of varying polarizing topics.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An extensive analysis was done on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a known polarizing topic of ~700 articles, Brexit(2016) [6], to test the polarization detection of the models.</a:t>
            </a:r>
          </a:p>
        </p:txBody>
      </p:sp>
      <p:pic>
        <p:nvPicPr>
          <p:cNvPr id="4" name="Picture 3" descr="A diagram of a business process&#10;&#10;AI-generated content may be incorrect.">
            <a:extLst>
              <a:ext uri="{FF2B5EF4-FFF2-40B4-BE49-F238E27FC236}">
                <a16:creationId xmlns:a16="http://schemas.microsoft.com/office/drawing/2014/main" id="{EDD1E5AF-85F2-31E4-B2F6-0FD95FDB2E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10082" y="118660"/>
            <a:ext cx="3845859" cy="6490902"/>
          </a:xfrm>
          <a:prstGeom prst="rect">
            <a:avLst/>
          </a:prstGeom>
          <a:noFill/>
        </p:spPr>
      </p:pic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7070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EBE5ED-8BDC-055F-2AFA-017B2CB72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/>
              <a:t>Metrics Used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B712A-8B35-E885-A175-EEEDC3FB4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1" y="2160589"/>
            <a:ext cx="9020733" cy="4240211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900" b="1" dirty="0"/>
              <a:t>Pair Matching: </a:t>
            </a:r>
          </a:p>
          <a:p>
            <a:pPr>
              <a:lnSpc>
                <a:spcPct val="90000"/>
              </a:lnSpc>
            </a:pPr>
            <a:r>
              <a:rPr lang="en-US" sz="1700" b="1" dirty="0"/>
              <a:t>Precision</a:t>
            </a:r>
            <a:r>
              <a:rPr lang="en-US" sz="1700" dirty="0"/>
              <a:t>: The Accuracy of predicted Pairs, how often a predicted pair is found in the Ground Truth</a:t>
            </a:r>
          </a:p>
          <a:p>
            <a:pPr>
              <a:lnSpc>
                <a:spcPct val="90000"/>
              </a:lnSpc>
            </a:pPr>
            <a:r>
              <a:rPr lang="en-US" sz="1700" b="1" dirty="0"/>
              <a:t>Recall</a:t>
            </a:r>
            <a:r>
              <a:rPr lang="en-US" sz="1700" dirty="0"/>
              <a:t>: Model’s Coverage of the Ground Truth Pairs</a:t>
            </a:r>
          </a:p>
          <a:p>
            <a:pPr>
              <a:lnSpc>
                <a:spcPct val="90000"/>
              </a:lnSpc>
            </a:pPr>
            <a:r>
              <a:rPr lang="en-US" sz="1700" b="1" dirty="0"/>
              <a:t>F1</a:t>
            </a:r>
            <a:r>
              <a:rPr lang="en-US" sz="1700" dirty="0"/>
              <a:t>: Mean average of Precision and Recall</a:t>
            </a:r>
          </a:p>
          <a:p>
            <a:pPr>
              <a:lnSpc>
                <a:spcPct val="90000"/>
              </a:lnSpc>
            </a:pPr>
            <a:endParaRPr lang="en-US" sz="17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900" b="1" dirty="0"/>
              <a:t>Attitude Prediction:</a:t>
            </a:r>
          </a:p>
          <a:p>
            <a:pPr>
              <a:lnSpc>
                <a:spcPct val="90000"/>
              </a:lnSpc>
            </a:pPr>
            <a:r>
              <a:rPr lang="en-US" sz="1700" b="1" dirty="0"/>
              <a:t>Accuracy</a:t>
            </a:r>
            <a:r>
              <a:rPr lang="en-US" sz="1700" dirty="0"/>
              <a:t>: Percentage of matched Attitudes (Negative/Neutral/Positive)</a:t>
            </a:r>
          </a:p>
          <a:p>
            <a:pPr>
              <a:lnSpc>
                <a:spcPct val="90000"/>
              </a:lnSpc>
            </a:pPr>
            <a:endParaRPr lang="en-US" sz="17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900" b="1" dirty="0"/>
              <a:t>Justification Overlap: </a:t>
            </a:r>
          </a:p>
          <a:p>
            <a:pPr>
              <a:lnSpc>
                <a:spcPct val="90000"/>
              </a:lnSpc>
            </a:pPr>
            <a:r>
              <a:rPr lang="en-US" sz="1700" b="1" dirty="0"/>
              <a:t>Overlap</a:t>
            </a:r>
            <a:r>
              <a:rPr lang="en-US" sz="1700" dirty="0"/>
              <a:t>: Utilizing </a:t>
            </a:r>
            <a:r>
              <a:rPr lang="en-US" sz="1700" b="1" dirty="0"/>
              <a:t>ROUGE-L</a:t>
            </a:r>
            <a:r>
              <a:rPr lang="en-US" sz="1700" dirty="0"/>
              <a:t> detect the similarity of the Justification texts</a:t>
            </a:r>
            <a:endParaRPr lang="en-US" sz="1700" b="1" dirty="0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0733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9793F383-A20E-BFBC-0FAB-8CF802C3A1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891" b="-2"/>
          <a:stretch>
            <a:fillRect/>
          </a:stretch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42BB82-9097-C5EB-B116-FEBCD6AC9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>
            <a:normAutofit/>
          </a:bodyPr>
          <a:lstStyle/>
          <a:p>
            <a:r>
              <a:rPr lang="en-US" dirty="0"/>
              <a:t>Results &amp;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97D62-F0FF-CD4B-6B1C-4693C17A0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4763557" cy="3880773"/>
          </a:xfrm>
        </p:spPr>
        <p:txBody>
          <a:bodyPr>
            <a:normAutofit/>
          </a:bodyPr>
          <a:lstStyle/>
          <a:p>
            <a:r>
              <a:rPr lang="en-US" dirty="0"/>
              <a:t>Mistral Fine-Tuning Evaluation</a:t>
            </a:r>
          </a:p>
          <a:p>
            <a:endParaRPr lang="en-US" dirty="0"/>
          </a:p>
          <a:p>
            <a:r>
              <a:rPr lang="en-US" dirty="0"/>
              <a:t>POLAR Compared to LLM Hybrid approach for Attitude assignment and SAG Comparisons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2975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73320-67BF-C312-5F78-C8D65431B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581" y="515471"/>
            <a:ext cx="4351866" cy="1320800"/>
          </a:xfrm>
        </p:spPr>
        <p:txBody>
          <a:bodyPr/>
          <a:lstStyle/>
          <a:p>
            <a:r>
              <a:rPr lang="en-US" dirty="0"/>
              <a:t>Mistral Attitudes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8A599-22CD-4E60-DF70-6C1BB2E78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3047501" cy="3880773"/>
          </a:xfrm>
        </p:spPr>
        <p:txBody>
          <a:bodyPr/>
          <a:lstStyle/>
          <a:p>
            <a:r>
              <a:rPr lang="en-US" dirty="0"/>
              <a:t>Incredibly similar to GPT’s outputs</a:t>
            </a:r>
          </a:p>
          <a:p>
            <a:endParaRPr lang="en-US" dirty="0"/>
          </a:p>
          <a:p>
            <a:r>
              <a:rPr lang="en-US" dirty="0"/>
              <a:t>High Recall with more Overall predictions than GPT</a:t>
            </a:r>
          </a:p>
          <a:p>
            <a:endParaRPr lang="en-US" dirty="0"/>
          </a:p>
          <a:p>
            <a:r>
              <a:rPr lang="en-US" dirty="0"/>
              <a:t>Extremely viable replacement</a:t>
            </a:r>
          </a:p>
        </p:txBody>
      </p:sp>
      <p:graphicFrame>
        <p:nvGraphicFramePr>
          <p:cNvPr id="4" name="Content Placeholder 7">
            <a:extLst>
              <a:ext uri="{FF2B5EF4-FFF2-40B4-BE49-F238E27FC236}">
                <a16:creationId xmlns:a16="http://schemas.microsoft.com/office/drawing/2014/main" id="{D81876EE-A4AC-9A46-F4CA-7597C2A2F7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8175111"/>
              </p:ext>
            </p:extLst>
          </p:nvPr>
        </p:nvGraphicFramePr>
        <p:xfrm>
          <a:off x="3864287" y="789744"/>
          <a:ext cx="8233584" cy="5897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4528">
                  <a:extLst>
                    <a:ext uri="{9D8B030D-6E8A-4147-A177-3AD203B41FA5}">
                      <a16:colId xmlns:a16="http://schemas.microsoft.com/office/drawing/2014/main" val="205828266"/>
                    </a:ext>
                  </a:extLst>
                </a:gridCol>
                <a:gridCol w="2744528">
                  <a:extLst>
                    <a:ext uri="{9D8B030D-6E8A-4147-A177-3AD203B41FA5}">
                      <a16:colId xmlns:a16="http://schemas.microsoft.com/office/drawing/2014/main" val="416087320"/>
                    </a:ext>
                  </a:extLst>
                </a:gridCol>
                <a:gridCol w="2744528">
                  <a:extLst>
                    <a:ext uri="{9D8B030D-6E8A-4147-A177-3AD203B41FA5}">
                      <a16:colId xmlns:a16="http://schemas.microsoft.com/office/drawing/2014/main" val="2419119124"/>
                    </a:ext>
                  </a:extLst>
                </a:gridCol>
              </a:tblGrid>
              <a:tr h="355102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Topical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716059"/>
                  </a:ext>
                </a:extLst>
              </a:tr>
              <a:tr h="355102"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Pair  Matching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912907"/>
                  </a:ext>
                </a:extLst>
              </a:tr>
              <a:tr h="355102">
                <a:tc>
                  <a:txBody>
                    <a:bodyPr/>
                    <a:lstStyle/>
                    <a:p>
                      <a:r>
                        <a:rPr lang="en-US" sz="1800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i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0.8725</a:t>
                      </a:r>
                      <a:endParaRPr lang="en-US" sz="1800" b="0" kern="100" dirty="0">
                        <a:solidFill>
                          <a:srgbClr val="C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i="1" kern="1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0.8658</a:t>
                      </a:r>
                      <a:endParaRPr lang="en-US" sz="1800" b="0" kern="100">
                        <a:solidFill>
                          <a:srgbClr val="C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43152451"/>
                  </a:ext>
                </a:extLst>
              </a:tr>
              <a:tr h="355102">
                <a:tc>
                  <a:txBody>
                    <a:bodyPr/>
                    <a:lstStyle/>
                    <a:p>
                      <a:r>
                        <a:rPr lang="en-US" sz="1800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i="1" kern="1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0.9418</a:t>
                      </a:r>
                      <a:endParaRPr lang="en-US" sz="1800" b="0" kern="100">
                        <a:solidFill>
                          <a:srgbClr val="C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i="1" kern="1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0.9365</a:t>
                      </a:r>
                      <a:endParaRPr lang="en-US" sz="1800" b="0" kern="100">
                        <a:solidFill>
                          <a:srgbClr val="C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51953168"/>
                  </a:ext>
                </a:extLst>
              </a:tr>
              <a:tr h="355102">
                <a:tc>
                  <a:txBody>
                    <a:bodyPr/>
                    <a:lstStyle/>
                    <a:p>
                      <a:r>
                        <a:rPr lang="en-US" sz="1800" dirty="0"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i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0.9059</a:t>
                      </a:r>
                      <a:endParaRPr lang="en-US" sz="1800" b="0" kern="100" dirty="0">
                        <a:solidFill>
                          <a:srgbClr val="C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i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0.8998</a:t>
                      </a:r>
                      <a:endParaRPr lang="en-US" sz="1800" b="0" kern="100" dirty="0">
                        <a:solidFill>
                          <a:srgbClr val="C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33652018"/>
                  </a:ext>
                </a:extLst>
              </a:tr>
              <a:tr h="355102">
                <a:tc>
                  <a:txBody>
                    <a:bodyPr/>
                    <a:lstStyle/>
                    <a:p>
                      <a:r>
                        <a:rPr lang="en-US" sz="1800" dirty="0"/>
                        <a:t>True Positives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664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826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3541643"/>
                  </a:ext>
                </a:extLst>
              </a:tr>
              <a:tr h="355102">
                <a:tc>
                  <a:txBody>
                    <a:bodyPr/>
                    <a:lstStyle/>
                    <a:p>
                      <a:r>
                        <a:rPr lang="en-US" sz="1800" dirty="0"/>
                        <a:t>False Positives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97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128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58964747"/>
                  </a:ext>
                </a:extLst>
              </a:tr>
              <a:tr h="355102">
                <a:tc>
                  <a:txBody>
                    <a:bodyPr/>
                    <a:lstStyle/>
                    <a:p>
                      <a:r>
                        <a:rPr lang="en-US" sz="1800" dirty="0"/>
                        <a:t>False Negatives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41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56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89409510"/>
                  </a:ext>
                </a:extLst>
              </a:tr>
              <a:tr h="355102"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Attitude Prediction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883318"/>
                  </a:ext>
                </a:extLst>
              </a:tr>
              <a:tr h="355102">
                <a:tc>
                  <a:txBody>
                    <a:bodyPr/>
                    <a:lstStyle/>
                    <a:p>
                      <a:r>
                        <a:rPr lang="en-US" sz="1800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0.9771</a:t>
                      </a:r>
                      <a:endParaRPr lang="en-US" sz="1800" kern="100" dirty="0">
                        <a:solidFill>
                          <a:srgbClr val="C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0.9750</a:t>
                      </a:r>
                      <a:endParaRPr lang="en-US" sz="1800" kern="100" dirty="0">
                        <a:solidFill>
                          <a:srgbClr val="C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67162684"/>
                  </a:ext>
                </a:extLst>
              </a:tr>
              <a:tr h="355102">
                <a:tc>
                  <a:txBody>
                    <a:bodyPr/>
                    <a:lstStyle/>
                    <a:p>
                      <a:r>
                        <a:rPr lang="en-US" sz="1800" dirty="0"/>
                        <a:t>True Positives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683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820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7478366"/>
                  </a:ext>
                </a:extLst>
              </a:tr>
              <a:tr h="355102">
                <a:tc>
                  <a:txBody>
                    <a:bodyPr/>
                    <a:lstStyle/>
                    <a:p>
                      <a:r>
                        <a:rPr lang="en-US" sz="1800" dirty="0"/>
                        <a:t>False Negatives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21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7040988"/>
                  </a:ext>
                </a:extLst>
              </a:tr>
              <a:tr h="355102"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Justification Overlap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96247"/>
                  </a:ext>
                </a:extLst>
              </a:tr>
              <a:tr h="355102">
                <a:tc>
                  <a:txBody>
                    <a:bodyPr/>
                    <a:lstStyle/>
                    <a:p>
                      <a:r>
                        <a:rPr lang="en-US" sz="1800" dirty="0"/>
                        <a:t>Overlap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0.8581</a:t>
                      </a:r>
                      <a:endParaRPr lang="en-US" sz="1800" kern="100">
                        <a:solidFill>
                          <a:srgbClr val="C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0.8785</a:t>
                      </a:r>
                      <a:endParaRPr lang="en-US" sz="1800" kern="100" dirty="0">
                        <a:solidFill>
                          <a:srgbClr val="C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83241780"/>
                  </a:ext>
                </a:extLst>
              </a:tr>
              <a:tr h="355102">
                <a:tc>
                  <a:txBody>
                    <a:bodyPr/>
                    <a:lstStyle/>
                    <a:p>
                      <a:r>
                        <a:rPr lang="en-US" sz="1800" dirty="0"/>
                        <a:t>Matched Justifications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798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477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83541691"/>
                  </a:ext>
                </a:extLst>
              </a:tr>
              <a:tr h="355102">
                <a:tc>
                  <a:txBody>
                    <a:bodyPr/>
                    <a:lstStyle/>
                    <a:p>
                      <a:r>
                        <a:rPr lang="en-US" sz="1800" dirty="0"/>
                        <a:t>Total Justifications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930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543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19795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0521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18CA-9F6E-90F3-9FEB-54650C399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Mistral Usage Conclusion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DDFA785-DAD1-28E7-2C8F-1D408FFA55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541324"/>
              </p:ext>
            </p:extLst>
          </p:nvPr>
        </p:nvGraphicFramePr>
        <p:xfrm>
          <a:off x="911668" y="2158501"/>
          <a:ext cx="8127999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6059007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7098374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6259600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Attribute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GPT-3.5 (API)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Mistral-7B (Fine-Tuned)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99486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Hosting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Cloud (OpenAI)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Local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32436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Internet Dependency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Required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02075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Prompt Length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Long (1200+ characters)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Minimal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77005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Latency per Request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~15–35 seconds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~1–2 minutes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81038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Multithread-ability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Minimal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1012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Cost per Use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Usage-based fees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Local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26017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Fine-tune Time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N/A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~3 hours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18906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System Requirements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N/A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Nvidia GPU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233874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366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1B546-BFA1-AA3F-5C4D-4DD9A5309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574592"/>
            <a:ext cx="3768660" cy="1320800"/>
          </a:xfrm>
        </p:spPr>
        <p:txBody>
          <a:bodyPr>
            <a:normAutofit fontScale="90000"/>
          </a:bodyPr>
          <a:lstStyle/>
          <a:p>
            <a:r>
              <a:rPr lang="en-US" dirty="0"/>
              <a:t>POLAR / GPT Attitudes Comparison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82216E4D-7237-EB40-4B74-DE68316660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2263366"/>
              </p:ext>
            </p:extLst>
          </p:nvPr>
        </p:nvGraphicFramePr>
        <p:xfrm>
          <a:off x="3864287" y="789744"/>
          <a:ext cx="8233584" cy="5897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4528">
                  <a:extLst>
                    <a:ext uri="{9D8B030D-6E8A-4147-A177-3AD203B41FA5}">
                      <a16:colId xmlns:a16="http://schemas.microsoft.com/office/drawing/2014/main" val="205828266"/>
                    </a:ext>
                  </a:extLst>
                </a:gridCol>
                <a:gridCol w="2744528">
                  <a:extLst>
                    <a:ext uri="{9D8B030D-6E8A-4147-A177-3AD203B41FA5}">
                      <a16:colId xmlns:a16="http://schemas.microsoft.com/office/drawing/2014/main" val="416087320"/>
                    </a:ext>
                  </a:extLst>
                </a:gridCol>
                <a:gridCol w="2744528">
                  <a:extLst>
                    <a:ext uri="{9D8B030D-6E8A-4147-A177-3AD203B41FA5}">
                      <a16:colId xmlns:a16="http://schemas.microsoft.com/office/drawing/2014/main" val="2419119124"/>
                    </a:ext>
                  </a:extLst>
                </a:gridCol>
              </a:tblGrid>
              <a:tr h="355102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Topical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716059"/>
                  </a:ext>
                </a:extLst>
              </a:tr>
              <a:tr h="355102"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Pair  Matching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912907"/>
                  </a:ext>
                </a:extLst>
              </a:tr>
              <a:tr h="355102">
                <a:tc>
                  <a:txBody>
                    <a:bodyPr/>
                    <a:lstStyle/>
                    <a:p>
                      <a:r>
                        <a:rPr lang="en-US" sz="1800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0.0787</a:t>
                      </a:r>
                      <a:endParaRPr lang="en-US" sz="1800" kern="100" dirty="0">
                        <a:solidFill>
                          <a:srgbClr val="C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0.0300</a:t>
                      </a:r>
                      <a:endParaRPr lang="en-US" sz="1800" kern="100" dirty="0">
                        <a:solidFill>
                          <a:srgbClr val="C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43152451"/>
                  </a:ext>
                </a:extLst>
              </a:tr>
              <a:tr h="355102">
                <a:tc>
                  <a:txBody>
                    <a:bodyPr/>
                    <a:lstStyle/>
                    <a:p>
                      <a:r>
                        <a:rPr lang="en-US" sz="1800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0.0295</a:t>
                      </a:r>
                      <a:endParaRPr lang="en-US" sz="1800" kern="100" dirty="0">
                        <a:solidFill>
                          <a:srgbClr val="C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0.0528</a:t>
                      </a:r>
                      <a:endParaRPr lang="en-US" sz="1800" kern="100">
                        <a:solidFill>
                          <a:srgbClr val="C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51953168"/>
                  </a:ext>
                </a:extLst>
              </a:tr>
              <a:tr h="355102">
                <a:tc>
                  <a:txBody>
                    <a:bodyPr/>
                    <a:lstStyle/>
                    <a:p>
                      <a:r>
                        <a:rPr lang="en-US" sz="1800" dirty="0"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0.0429</a:t>
                      </a:r>
                      <a:endParaRPr lang="en-US" sz="1800" kern="100" dirty="0">
                        <a:solidFill>
                          <a:srgbClr val="C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0.0383</a:t>
                      </a:r>
                      <a:endParaRPr lang="en-US" sz="1800" kern="100" dirty="0">
                        <a:solidFill>
                          <a:srgbClr val="C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33652018"/>
                  </a:ext>
                </a:extLst>
              </a:tr>
              <a:tr h="355102">
                <a:tc>
                  <a:txBody>
                    <a:bodyPr/>
                    <a:lstStyle/>
                    <a:p>
                      <a:r>
                        <a:rPr lang="en-US" sz="1800" dirty="0"/>
                        <a:t>True Positives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44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3541643"/>
                  </a:ext>
                </a:extLst>
              </a:tr>
              <a:tr h="355102">
                <a:tc>
                  <a:txBody>
                    <a:bodyPr/>
                    <a:lstStyle/>
                    <a:p>
                      <a:r>
                        <a:rPr lang="en-US" sz="1800" dirty="0"/>
                        <a:t>False Positives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234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1422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58964747"/>
                  </a:ext>
                </a:extLst>
              </a:tr>
              <a:tr h="355102">
                <a:tc>
                  <a:txBody>
                    <a:bodyPr/>
                    <a:lstStyle/>
                    <a:p>
                      <a:r>
                        <a:rPr lang="en-US" sz="1800" dirty="0"/>
                        <a:t>False Negatives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658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789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89409510"/>
                  </a:ext>
                </a:extLst>
              </a:tr>
              <a:tr h="355102"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Attitude Prediction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883318"/>
                  </a:ext>
                </a:extLst>
              </a:tr>
              <a:tr h="355102">
                <a:tc>
                  <a:txBody>
                    <a:bodyPr/>
                    <a:lstStyle/>
                    <a:p>
                      <a:r>
                        <a:rPr lang="en-US" sz="1800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0.35</a:t>
                      </a:r>
                      <a:endParaRPr lang="en-US" sz="1800" kern="100" dirty="0">
                        <a:solidFill>
                          <a:srgbClr val="C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0.1591</a:t>
                      </a:r>
                      <a:endParaRPr lang="en-US" sz="1800" kern="100" dirty="0">
                        <a:solidFill>
                          <a:srgbClr val="C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67162684"/>
                  </a:ext>
                </a:extLst>
              </a:tr>
              <a:tr h="355102">
                <a:tc>
                  <a:txBody>
                    <a:bodyPr/>
                    <a:lstStyle/>
                    <a:p>
                      <a:r>
                        <a:rPr lang="en-US" sz="1800" dirty="0"/>
                        <a:t>True Positives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7478366"/>
                  </a:ext>
                </a:extLst>
              </a:tr>
              <a:tr h="355102">
                <a:tc>
                  <a:txBody>
                    <a:bodyPr/>
                    <a:lstStyle/>
                    <a:p>
                      <a:r>
                        <a:rPr lang="en-US" sz="1800" dirty="0"/>
                        <a:t>False Negatives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37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7040988"/>
                  </a:ext>
                </a:extLst>
              </a:tr>
              <a:tr h="355102"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Justification Overlap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96247"/>
                  </a:ext>
                </a:extLst>
              </a:tr>
              <a:tr h="355102">
                <a:tc>
                  <a:txBody>
                    <a:bodyPr/>
                    <a:lstStyle/>
                    <a:p>
                      <a:r>
                        <a:rPr lang="en-US" sz="1800" dirty="0"/>
                        <a:t>Overlap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0.1379</a:t>
                      </a:r>
                      <a:endParaRPr lang="en-US" sz="1800" kern="100" dirty="0">
                        <a:solidFill>
                          <a:srgbClr val="C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1800" kern="100" dirty="0">
                        <a:solidFill>
                          <a:srgbClr val="C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83241780"/>
                  </a:ext>
                </a:extLst>
              </a:tr>
              <a:tr h="355102">
                <a:tc>
                  <a:txBody>
                    <a:bodyPr/>
                    <a:lstStyle/>
                    <a:p>
                      <a:r>
                        <a:rPr lang="en-US" sz="1800" dirty="0"/>
                        <a:t>Matched Justifications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83541691"/>
                  </a:ext>
                </a:extLst>
              </a:tr>
              <a:tr h="355102">
                <a:tc>
                  <a:txBody>
                    <a:bodyPr/>
                    <a:lstStyle/>
                    <a:p>
                      <a:r>
                        <a:rPr lang="en-US" sz="1800" dirty="0"/>
                        <a:t>Total Justifications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29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19795205"/>
                  </a:ext>
                </a:extLst>
              </a:tr>
            </a:tbl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118ADE4-BE0B-4A87-0A40-3FEC06C1F082}"/>
              </a:ext>
            </a:extLst>
          </p:cNvPr>
          <p:cNvSpPr txBox="1">
            <a:spLocks/>
          </p:cNvSpPr>
          <p:nvPr/>
        </p:nvSpPr>
        <p:spPr>
          <a:xfrm>
            <a:off x="677334" y="2187483"/>
            <a:ext cx="3087842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Comparing POLAR’s fields with LLMs per-article.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Results show that the 2 Models are Very Dissimilar.</a:t>
            </a:r>
          </a:p>
        </p:txBody>
      </p:sp>
    </p:spTree>
    <p:extLst>
      <p:ext uri="{BB962C8B-B14F-4D97-AF65-F5344CB8AC3E}">
        <p14:creationId xmlns:p14="http://schemas.microsoft.com/office/powerpoint/2010/main" val="19556722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5A3D3-1F03-E7FB-44EB-57F8CDE3D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Attitude Summary</a:t>
            </a:r>
          </a:p>
        </p:txBody>
      </p:sp>
      <p:pic>
        <p:nvPicPr>
          <p:cNvPr id="4" name="Picture 3" descr="A pie chart with numbers and a few different colored circles&#10;&#10;AI-generated content may be incorrect.">
            <a:extLst>
              <a:ext uri="{FF2B5EF4-FFF2-40B4-BE49-F238E27FC236}">
                <a16:creationId xmlns:a16="http://schemas.microsoft.com/office/drawing/2014/main" id="{89839807-42A8-815E-0646-DAEF2A2A4E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741" y="1129553"/>
            <a:ext cx="4834553" cy="3145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pie chart with different colored circles&#10;&#10;AI-generated content may be incorrect.">
            <a:extLst>
              <a:ext uri="{FF2B5EF4-FFF2-40B4-BE49-F238E27FC236}">
                <a16:creationId xmlns:a16="http://schemas.microsoft.com/office/drawing/2014/main" id="{063AA9E6-A917-8325-B304-FC6EACC5FE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891" y="3806079"/>
            <a:ext cx="4836202" cy="3145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A pie chart with numbers and a few percentages&#10;&#10;AI-generated content may be incorrect.">
            <a:extLst>
              <a:ext uri="{FF2B5EF4-FFF2-40B4-BE49-F238E27FC236}">
                <a16:creationId xmlns:a16="http://schemas.microsoft.com/office/drawing/2014/main" id="{B5DA2D09-517D-5756-603C-054DF43FE7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5532" y="1264024"/>
            <a:ext cx="4619329" cy="3005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A pie chart with numbers and a few different colored circles&#10;&#10;AI-generated content may be incorrect.">
            <a:extLst>
              <a:ext uri="{FF2B5EF4-FFF2-40B4-BE49-F238E27FC236}">
                <a16:creationId xmlns:a16="http://schemas.microsoft.com/office/drawing/2014/main" id="{3F4A0F94-6017-43AA-0A23-FD0712B412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1739" y="3900571"/>
            <a:ext cx="4452154" cy="289271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2193BD-2AA6-8E4F-9F62-8F3C4EBE1BA1}"/>
              </a:ext>
            </a:extLst>
          </p:cNvPr>
          <p:cNvSpPr txBox="1"/>
          <p:nvPr/>
        </p:nvSpPr>
        <p:spPr>
          <a:xfrm>
            <a:off x="7213913" y="3900571"/>
            <a:ext cx="2066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POLAR Predictions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C8F0CE-EBFD-530C-FE5B-92CAE173054F}"/>
              </a:ext>
            </a:extLst>
          </p:cNvPr>
          <p:cNvSpPr txBox="1"/>
          <p:nvPr/>
        </p:nvSpPr>
        <p:spPr>
          <a:xfrm>
            <a:off x="1730099" y="3814612"/>
            <a:ext cx="1809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GPT Predictions</a:t>
            </a:r>
          </a:p>
        </p:txBody>
      </p:sp>
    </p:spTree>
    <p:extLst>
      <p:ext uri="{BB962C8B-B14F-4D97-AF65-F5344CB8AC3E}">
        <p14:creationId xmlns:p14="http://schemas.microsoft.com/office/powerpoint/2010/main" val="30518736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94FCE-8D8F-2A58-777F-0F046CDAF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Attitude Summary: Brexit Dataset</a:t>
            </a:r>
          </a:p>
        </p:txBody>
      </p:sp>
      <p:pic>
        <p:nvPicPr>
          <p:cNvPr id="4" name="Picture 3" descr="A pie chart with numbers and a few percentages&#10;&#10;AI-generated content may be incorrect.">
            <a:extLst>
              <a:ext uri="{FF2B5EF4-FFF2-40B4-BE49-F238E27FC236}">
                <a16:creationId xmlns:a16="http://schemas.microsoft.com/office/drawing/2014/main" id="{803AC4BB-2A6A-C4C2-11E0-3A4EEBCEE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177" y="1150156"/>
            <a:ext cx="4510454" cy="2932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pie chart with numbers and a few percentages&#10;&#10;AI-generated content may be incorrect.">
            <a:extLst>
              <a:ext uri="{FF2B5EF4-FFF2-40B4-BE49-F238E27FC236}">
                <a16:creationId xmlns:a16="http://schemas.microsoft.com/office/drawing/2014/main" id="{BD1216AC-609E-1C09-9A23-4067A7B168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323" y="3768958"/>
            <a:ext cx="4498767" cy="2932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A pie chart with numbers and a few percentages&#10;&#10;AI-generated content may be incorrect.">
            <a:extLst>
              <a:ext uri="{FF2B5EF4-FFF2-40B4-BE49-F238E27FC236}">
                <a16:creationId xmlns:a16="http://schemas.microsoft.com/office/drawing/2014/main" id="{FC5510FB-AE6C-3D8F-0C30-C2BCD1C986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6926" y="1146272"/>
            <a:ext cx="4498767" cy="2936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A pie chart with numbers and a few percentages&#10;&#10;AI-generated content may be incorrect.">
            <a:extLst>
              <a:ext uri="{FF2B5EF4-FFF2-40B4-BE49-F238E27FC236}">
                <a16:creationId xmlns:a16="http://schemas.microsoft.com/office/drawing/2014/main" id="{BCB7D640-6B7E-F587-2373-F501ED4078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071" y="3768958"/>
            <a:ext cx="4510622" cy="293296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D045FA-5849-19AA-7198-B0C6115444DC}"/>
              </a:ext>
            </a:extLst>
          </p:cNvPr>
          <p:cNvSpPr txBox="1"/>
          <p:nvPr/>
        </p:nvSpPr>
        <p:spPr>
          <a:xfrm>
            <a:off x="1686637" y="3768958"/>
            <a:ext cx="1809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GPT Predictions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8F50F5-9740-B575-1504-2E3C3FDDB3A8}"/>
              </a:ext>
            </a:extLst>
          </p:cNvPr>
          <p:cNvSpPr txBox="1"/>
          <p:nvPr/>
        </p:nvSpPr>
        <p:spPr>
          <a:xfrm>
            <a:off x="7207026" y="3768958"/>
            <a:ext cx="2066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POLAR Predictions</a:t>
            </a:r>
          </a:p>
        </p:txBody>
      </p:sp>
    </p:spTree>
    <p:extLst>
      <p:ext uri="{BB962C8B-B14F-4D97-AF65-F5344CB8AC3E}">
        <p14:creationId xmlns:p14="http://schemas.microsoft.com/office/powerpoint/2010/main" val="18152597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BD8EB-8CB7-6F7E-E405-0DBE039F8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Coverage: Brexit Dataset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B4CA21C-2463-E729-2BF0-A8BEDDB588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9635816"/>
              </p:ext>
            </p:extLst>
          </p:nvPr>
        </p:nvGraphicFramePr>
        <p:xfrm>
          <a:off x="6454589" y="2393577"/>
          <a:ext cx="5293846" cy="30584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6923">
                  <a:extLst>
                    <a:ext uri="{9D8B030D-6E8A-4147-A177-3AD203B41FA5}">
                      <a16:colId xmlns:a16="http://schemas.microsoft.com/office/drawing/2014/main" val="1082821828"/>
                    </a:ext>
                  </a:extLst>
                </a:gridCol>
                <a:gridCol w="2646923">
                  <a:extLst>
                    <a:ext uri="{9D8B030D-6E8A-4147-A177-3AD203B41FA5}">
                      <a16:colId xmlns:a16="http://schemas.microsoft.com/office/drawing/2014/main" val="3184040512"/>
                    </a:ext>
                  </a:extLst>
                </a:gridCol>
              </a:tblGrid>
              <a:tr h="419975">
                <a:tc>
                  <a:txBody>
                    <a:bodyPr/>
                    <a:lstStyle/>
                    <a:p>
                      <a:r>
                        <a:rPr lang="en-US" dirty="0"/>
                        <a:t>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7788812"/>
                  </a:ext>
                </a:extLst>
              </a:tr>
              <a:tr h="3769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0.7294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92656006"/>
                  </a:ext>
                </a:extLst>
              </a:tr>
              <a:tr h="3769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True Positives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2235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09752879"/>
                  </a:ext>
                </a:extLst>
              </a:tr>
              <a:tr h="3769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False Negatives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829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52803879"/>
                  </a:ext>
                </a:extLst>
              </a:tr>
              <a:tr h="3769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POLAR Topics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2671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83239031"/>
                  </a:ext>
                </a:extLst>
              </a:tr>
              <a:tr h="3769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GPT Topics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2628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32941977"/>
                  </a:ext>
                </a:extLst>
              </a:tr>
              <a:tr h="3769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Unmatched POLAR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436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94063230"/>
                  </a:ext>
                </a:extLst>
              </a:tr>
              <a:tr h="3769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Unmatched GPT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393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46672818"/>
                  </a:ext>
                </a:extLst>
              </a:tr>
            </a:tbl>
          </a:graphicData>
        </a:graphic>
      </p:graphicFrame>
      <p:pic>
        <p:nvPicPr>
          <p:cNvPr id="6" name="Graphic 35">
            <a:extLst>
              <a:ext uri="{FF2B5EF4-FFF2-40B4-BE49-F238E27FC236}">
                <a16:creationId xmlns:a16="http://schemas.microsoft.com/office/drawing/2014/main" id="{160C030B-DCAA-E848-2418-08B7A93B1EA5}"/>
              </a:ext>
            </a:extLst>
          </p:cNvPr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266" y="1769036"/>
            <a:ext cx="5979958" cy="40509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F8240FA-CB02-BFE2-F8F3-BB488FD01D20}"/>
              </a:ext>
            </a:extLst>
          </p:cNvPr>
          <p:cNvSpPr txBox="1"/>
          <p:nvPr/>
        </p:nvSpPr>
        <p:spPr>
          <a:xfrm>
            <a:off x="677334" y="5622988"/>
            <a:ext cx="51796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Models show relative similarity in topics. </a:t>
            </a:r>
          </a:p>
          <a:p>
            <a:r>
              <a:rPr lang="en-US" dirty="0"/>
              <a:t>Metrics align with POLAR calculations[1] (~73%)</a:t>
            </a:r>
          </a:p>
        </p:txBody>
      </p:sp>
    </p:spTree>
    <p:extLst>
      <p:ext uri="{BB962C8B-B14F-4D97-AF65-F5344CB8AC3E}">
        <p14:creationId xmlns:p14="http://schemas.microsoft.com/office/powerpoint/2010/main" val="15538359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F0D1E-0875-3C8A-F11A-8CA6A81B9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588681"/>
            <a:ext cx="8596668" cy="1039168"/>
          </a:xfrm>
        </p:spPr>
        <p:txBody>
          <a:bodyPr/>
          <a:lstStyle/>
          <a:p>
            <a:r>
              <a:rPr lang="en-US" dirty="0"/>
              <a:t>Pair Frequencies: Brexit Dataset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17124A-AE7B-F43C-75E1-0DFAEFC9E8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553280"/>
              </p:ext>
            </p:extLst>
          </p:nvPr>
        </p:nvGraphicFramePr>
        <p:xfrm>
          <a:off x="6096000" y="2368457"/>
          <a:ext cx="5517780" cy="2937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7765">
                  <a:extLst>
                    <a:ext uri="{9D8B030D-6E8A-4147-A177-3AD203B41FA5}">
                      <a16:colId xmlns:a16="http://schemas.microsoft.com/office/drawing/2014/main" val="2478738259"/>
                    </a:ext>
                  </a:extLst>
                </a:gridCol>
                <a:gridCol w="1721223">
                  <a:extLst>
                    <a:ext uri="{9D8B030D-6E8A-4147-A177-3AD203B41FA5}">
                      <a16:colId xmlns:a16="http://schemas.microsoft.com/office/drawing/2014/main" val="476562832"/>
                    </a:ext>
                  </a:extLst>
                </a:gridCol>
                <a:gridCol w="1958792">
                  <a:extLst>
                    <a:ext uri="{9D8B030D-6E8A-4147-A177-3AD203B41FA5}">
                      <a16:colId xmlns:a16="http://schemas.microsoft.com/office/drawing/2014/main" val="2260818638"/>
                    </a:ext>
                  </a:extLst>
                </a:gridCol>
              </a:tblGrid>
              <a:tr h="40104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i="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Pairs</a:t>
                      </a:r>
                      <a:endParaRPr lang="en-US" sz="1400" i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i="0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True_Attitudes</a:t>
                      </a:r>
                      <a:r>
                        <a:rPr lang="en-US" sz="1400" b="1" i="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(GPT)</a:t>
                      </a:r>
                      <a:endParaRPr lang="en-US" sz="1400" i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i="0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Pred_Attitudes</a:t>
                      </a:r>
                      <a:r>
                        <a:rPr lang="en-US" sz="1400" b="1" i="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(POLAR)</a:t>
                      </a:r>
                      <a:endParaRPr lang="en-US" sz="1400" i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31376383"/>
                  </a:ext>
                </a:extLst>
              </a:tr>
              <a:tr h="49213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('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brexit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', '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european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union')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TRUE: 70 (Neg: 58, Neu: 10, Pos: 2)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PRED: 20 (Neg: 6, Neu: 14, Pos: 0)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42239461"/>
                  </a:ext>
                </a:extLst>
              </a:tr>
              <a:tr h="49213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('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european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union', 'united kingdom') 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TRUE: 12 (Neg: 7, Neu: 5, Pos: 0)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PRED: 47 (Neg: 6, Neu: 34, Pos: 7)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7449617"/>
                  </a:ext>
                </a:extLst>
              </a:tr>
              <a:tr h="49213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('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brexit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', 'united kingdom')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TRUE: 34 (Neg: 22, Neu: 9, Pos: 3)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PRED: 21 (Neg: 2, Neu: 16, Pos: 3)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69361374"/>
                  </a:ext>
                </a:extLst>
              </a:tr>
              <a:tr h="49213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('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barack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obama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', '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brexit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')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TRUE: 24 (Neg: 14, Neu: 8, Pos: 2)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PRED: 1 (Neg: 0, Neu: 1, Pos: 0)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31647397"/>
                  </a:ext>
                </a:extLst>
              </a:tr>
              <a:tr h="49213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('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brexit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', 'united states')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TRUE: 15 (Neg: 8, Neu: 4, Pos: 3)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PRED: 9 (Neg: 1, Neu: 4, Pos: 4)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4423094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24C6DAA-90E3-CA3B-DDE9-8F5507D482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2890033"/>
              </p:ext>
            </p:extLst>
          </p:nvPr>
        </p:nvGraphicFramePr>
        <p:xfrm>
          <a:off x="219389" y="2368457"/>
          <a:ext cx="5342724" cy="28616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0908">
                  <a:extLst>
                    <a:ext uri="{9D8B030D-6E8A-4147-A177-3AD203B41FA5}">
                      <a16:colId xmlns:a16="http://schemas.microsoft.com/office/drawing/2014/main" val="2478738259"/>
                    </a:ext>
                  </a:extLst>
                </a:gridCol>
                <a:gridCol w="1780908">
                  <a:extLst>
                    <a:ext uri="{9D8B030D-6E8A-4147-A177-3AD203B41FA5}">
                      <a16:colId xmlns:a16="http://schemas.microsoft.com/office/drawing/2014/main" val="476562832"/>
                    </a:ext>
                  </a:extLst>
                </a:gridCol>
                <a:gridCol w="1780908">
                  <a:extLst>
                    <a:ext uri="{9D8B030D-6E8A-4147-A177-3AD203B41FA5}">
                      <a16:colId xmlns:a16="http://schemas.microsoft.com/office/drawing/2014/main" val="2260818638"/>
                    </a:ext>
                  </a:extLst>
                </a:gridCol>
              </a:tblGrid>
              <a:tr h="3886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i="0" u="none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Pairs</a:t>
                      </a:r>
                      <a:endParaRPr lang="en-US" sz="1400" b="1" i="0" u="none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i="0" u="none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True_Attitudes</a:t>
                      </a:r>
                      <a:r>
                        <a:rPr lang="en-US" sz="1400" b="1" i="0" u="none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(GPT)</a:t>
                      </a:r>
                      <a:endParaRPr lang="en-US" sz="1400" b="1" i="0" u="none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i="0" u="none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Pred_Attitudes</a:t>
                      </a:r>
                      <a:r>
                        <a:rPr lang="en-US" sz="1400" b="1" i="0" u="none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(POLAR)</a:t>
                      </a:r>
                      <a:endParaRPr lang="en-US" sz="1400" b="1" i="0" u="none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31376383"/>
                  </a:ext>
                </a:extLst>
              </a:tr>
              <a:tr h="34548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('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european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union', 'united kingdom')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TRUE: 72 (Neg: 47, Neu: 18, Pos: 7)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PRED: 109 (Neg: 14, Neu: 80, Pos: 15)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42239461"/>
                  </a:ext>
                </a:extLst>
              </a:tr>
              <a:tr h="34548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('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brexit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', '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european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union')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TRUE: 7 (Neg: 7, Neu: 0, Pos: 0)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PRED: 44 (Neg: 10, Neu: 24, Pos: 10)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7449617"/>
                  </a:ext>
                </a:extLst>
              </a:tr>
              <a:tr h="34548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('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brexit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', 'united kingdom')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TRUE: 5 (Neg: 1, Neu: 2, Pos: 2)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PRED: 43 (Neg: 9, Neu: 28, Pos: 6)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69361374"/>
                  </a:ext>
                </a:extLst>
              </a:tr>
              <a:tr h="34548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('united kingdom', 'united states')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TRUE: 29 (Neg: 5, Neu: 6, Pos: 18)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PRED: 6 (Neg: 0, Neu: 5, Pos: 1)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31647397"/>
                  </a:ext>
                </a:extLst>
              </a:tr>
              <a:tr h="34548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('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barack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obama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', '</a:t>
                      </a:r>
                      <a:r>
                        <a:rPr lang="en-US" sz="1400" i="1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european</a:t>
                      </a: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union')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TRUE: 11 (Neg: 1, Neu: 4, Pos: 6)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PRED: 13 (Neg: 4, Neu: 6, Pos: 3)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442309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E71D5A9-8EE6-59AD-A4EF-C19644987692}"/>
              </a:ext>
            </a:extLst>
          </p:cNvPr>
          <p:cNvSpPr txBox="1"/>
          <p:nvPr/>
        </p:nvSpPr>
        <p:spPr>
          <a:xfrm>
            <a:off x="2213931" y="1981191"/>
            <a:ext cx="1353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Entity Pairs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F6B848-329B-9263-E26B-BDEA7F71003A}"/>
              </a:ext>
            </a:extLst>
          </p:cNvPr>
          <p:cNvSpPr txBox="1"/>
          <p:nvPr/>
        </p:nvSpPr>
        <p:spPr>
          <a:xfrm>
            <a:off x="8121099" y="1999125"/>
            <a:ext cx="1467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Topical Pairs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506981-22B7-6396-E749-D218A3E16481}"/>
              </a:ext>
            </a:extLst>
          </p:cNvPr>
          <p:cNvSpPr txBox="1"/>
          <p:nvPr/>
        </p:nvSpPr>
        <p:spPr>
          <a:xfrm>
            <a:off x="677334" y="5622988"/>
            <a:ext cx="74030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Models show similarity in finding the same pairs from the Articles</a:t>
            </a:r>
          </a:p>
          <a:p>
            <a:r>
              <a:rPr lang="en-US" dirty="0"/>
              <a:t>Attitude Assignment is very dissimilar</a:t>
            </a:r>
          </a:p>
        </p:txBody>
      </p:sp>
    </p:spTree>
    <p:extLst>
      <p:ext uri="{BB962C8B-B14F-4D97-AF65-F5344CB8AC3E}">
        <p14:creationId xmlns:p14="http://schemas.microsoft.com/office/powerpoint/2010/main" val="16068432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1EC2C-ED1F-1B41-A39C-F02297DB4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Signed Attitude Graphs (SAG)</a:t>
            </a:r>
          </a:p>
        </p:txBody>
      </p:sp>
      <p:pic>
        <p:nvPicPr>
          <p:cNvPr id="4" name="Picture 3" descr="A network of lines and dots&#10;&#10;AI-generated content may be incorrect.">
            <a:extLst>
              <a:ext uri="{FF2B5EF4-FFF2-40B4-BE49-F238E27FC236}">
                <a16:creationId xmlns:a16="http://schemas.microsoft.com/office/drawing/2014/main" id="{D39FC287-C497-8714-D4DA-302C69269E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930400"/>
            <a:ext cx="6411475" cy="4572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red and green lines with blue dots&#10;&#10;AI-generated content may be incorrect.">
            <a:extLst>
              <a:ext uri="{FF2B5EF4-FFF2-40B4-BE49-F238E27FC236}">
                <a16:creationId xmlns:a16="http://schemas.microsoft.com/office/drawing/2014/main" id="{0D708A62-399C-F799-2FDD-C47622161D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8264" y="2037976"/>
            <a:ext cx="6411476" cy="457297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0681C0-B996-11ED-44FB-32EBB3F16798}"/>
              </a:ext>
            </a:extLst>
          </p:cNvPr>
          <p:cNvSpPr txBox="1"/>
          <p:nvPr/>
        </p:nvSpPr>
        <p:spPr>
          <a:xfrm>
            <a:off x="2349411" y="6187827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POLAR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4A782A-DB25-B3DD-16BD-03E6F0A1EB19}"/>
              </a:ext>
            </a:extLst>
          </p:cNvPr>
          <p:cNvSpPr txBox="1"/>
          <p:nvPr/>
        </p:nvSpPr>
        <p:spPr>
          <a:xfrm>
            <a:off x="9274001" y="6184807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2A1E24-905B-037D-8EB1-122877BC0D6C}"/>
              </a:ext>
            </a:extLst>
          </p:cNvPr>
          <p:cNvSpPr txBox="1"/>
          <p:nvPr/>
        </p:nvSpPr>
        <p:spPr>
          <a:xfrm>
            <a:off x="210787" y="1479113"/>
            <a:ext cx="1735924" cy="5050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200" kern="1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Green</a:t>
            </a:r>
            <a:r>
              <a:rPr lang="en-US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Positive Attitudes</a:t>
            </a:r>
            <a:br>
              <a:rPr lang="en-US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Red</a:t>
            </a:r>
            <a:r>
              <a:rPr lang="en-US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Negative Attitudes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8656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ED64C-5BF3-4A56-A87B-07EAB6A54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Polarization Dipole Graph</a:t>
            </a:r>
          </a:p>
        </p:txBody>
      </p:sp>
      <p:pic>
        <p:nvPicPr>
          <p:cNvPr id="4" name="Picture 3" descr="A network of lines and dots">
            <a:extLst>
              <a:ext uri="{FF2B5EF4-FFF2-40B4-BE49-F238E27FC236}">
                <a16:creationId xmlns:a16="http://schemas.microsoft.com/office/drawing/2014/main" id="{5661B337-DFC5-8D6A-69E0-10B364EC390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412029"/>
            <a:ext cx="5943600" cy="4239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network of lines and dots&#10;&#10;AI-generated content may be incorrect.">
            <a:extLst>
              <a:ext uri="{FF2B5EF4-FFF2-40B4-BE49-F238E27FC236}">
                <a16:creationId xmlns:a16="http://schemas.microsoft.com/office/drawing/2014/main" id="{3986985F-9D7F-B96B-384B-EC18948C47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198145"/>
            <a:ext cx="5943600" cy="423672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B5C054-C7C2-4EB2-B870-CC3E2CAAC226}"/>
              </a:ext>
            </a:extLst>
          </p:cNvPr>
          <p:cNvSpPr txBox="1"/>
          <p:nvPr/>
        </p:nvSpPr>
        <p:spPr>
          <a:xfrm>
            <a:off x="2267875" y="6063734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POLAR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92377F-5A83-F5BB-EBF8-F300980BAA73}"/>
              </a:ext>
            </a:extLst>
          </p:cNvPr>
          <p:cNvSpPr txBox="1"/>
          <p:nvPr/>
        </p:nvSpPr>
        <p:spPr>
          <a:xfrm>
            <a:off x="9274002" y="6063734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2C1B92-901B-4AD1-17D6-164A107154ED}"/>
              </a:ext>
            </a:extLst>
          </p:cNvPr>
          <p:cNvSpPr txBox="1"/>
          <p:nvPr/>
        </p:nvSpPr>
        <p:spPr>
          <a:xfrm>
            <a:off x="323120" y="1555886"/>
            <a:ext cx="3083345" cy="11421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200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Blue</a:t>
            </a:r>
            <a:r>
              <a:rPr lang="en-US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Neutral to slight Agreement on the Topic</a:t>
            </a:r>
            <a:br>
              <a:rPr lang="en-US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200" kern="1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Gray</a:t>
            </a:r>
            <a:r>
              <a:rPr lang="en-US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Mixed to Neutral on the Topic</a:t>
            </a:r>
            <a:br>
              <a:rPr lang="en-US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200" kern="1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Green</a:t>
            </a:r>
            <a:r>
              <a:rPr lang="en-US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Positive Agreement on the Topic</a:t>
            </a:r>
            <a:br>
              <a:rPr lang="en-US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200" kern="100" dirty="0">
                <a:solidFill>
                  <a:schemeClr val="accent4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Orange</a:t>
            </a:r>
            <a:r>
              <a:rPr lang="en-US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Negative Agreement on the Topic</a:t>
            </a:r>
            <a:br>
              <a:rPr lang="en-US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Red</a:t>
            </a:r>
            <a:r>
              <a:rPr lang="en-US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Polarization on the Topic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3231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018AD-80A8-D6CF-85D8-03541151B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Polarization Topics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D3E27-02B6-EC32-1DB6-846F7CDA8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8"/>
            <a:ext cx="4190501" cy="4087811"/>
          </a:xfrm>
        </p:spPr>
        <p:txBody>
          <a:bodyPr>
            <a:normAutofit/>
          </a:bodyPr>
          <a:lstStyle/>
          <a:p>
            <a:r>
              <a:rPr lang="en-US" dirty="0"/>
              <a:t>Dipole Topics sent to LLMs to rate as Sociopolitical or not.</a:t>
            </a:r>
          </a:p>
          <a:p>
            <a:endParaRPr lang="en-US" dirty="0"/>
          </a:p>
          <a:p>
            <a:r>
              <a:rPr lang="en-US" dirty="0"/>
              <a:t>POLAR having vague dipole topics:</a:t>
            </a:r>
            <a:br>
              <a:rPr lang="en-US" dirty="0"/>
            </a:br>
            <a:r>
              <a:rPr lang="en-US" sz="1500" dirty="0"/>
              <a:t>(“Part”, “Share”, “Fact”, “Former Mayor”…)</a:t>
            </a:r>
          </a:p>
          <a:p>
            <a:endParaRPr lang="en-US" dirty="0"/>
          </a:p>
          <a:p>
            <a:r>
              <a:rPr lang="en-US" dirty="0"/>
              <a:t>GPT having less topics but more sociopolitical:</a:t>
            </a:r>
            <a:br>
              <a:rPr lang="en-US" dirty="0"/>
            </a:br>
            <a:r>
              <a:rPr lang="en-US" sz="1500" dirty="0"/>
              <a:t>(“immigration”, “globalization”, “inequality”, “global economy”…)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CBB8C9F-B7C5-AD31-A3B4-7C4DA59341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6166213"/>
              </p:ext>
            </p:extLst>
          </p:nvPr>
        </p:nvGraphicFramePr>
        <p:xfrm>
          <a:off x="4975668" y="2160588"/>
          <a:ext cx="6433668" cy="3150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4556">
                  <a:extLst>
                    <a:ext uri="{9D8B030D-6E8A-4147-A177-3AD203B41FA5}">
                      <a16:colId xmlns:a16="http://schemas.microsoft.com/office/drawing/2014/main" val="1476380008"/>
                    </a:ext>
                  </a:extLst>
                </a:gridCol>
                <a:gridCol w="2144556">
                  <a:extLst>
                    <a:ext uri="{9D8B030D-6E8A-4147-A177-3AD203B41FA5}">
                      <a16:colId xmlns:a16="http://schemas.microsoft.com/office/drawing/2014/main" val="1487808004"/>
                    </a:ext>
                  </a:extLst>
                </a:gridCol>
                <a:gridCol w="2144556">
                  <a:extLst>
                    <a:ext uri="{9D8B030D-6E8A-4147-A177-3AD203B41FA5}">
                      <a16:colId xmlns:a16="http://schemas.microsoft.com/office/drawing/2014/main" val="1446051332"/>
                    </a:ext>
                  </a:extLst>
                </a:gridCol>
              </a:tblGrid>
              <a:tr h="6200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GPT Percentage of Matches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POLAR Percentage of Matches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67682596"/>
                  </a:ext>
                </a:extLst>
              </a:tr>
              <a:tr h="42182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GPT-4.0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100%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45.1%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75913312"/>
                  </a:ext>
                </a:extLst>
              </a:tr>
              <a:tr h="42182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Deepseek-V3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76.7%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40.7%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55023951"/>
                  </a:ext>
                </a:extLst>
              </a:tr>
              <a:tr h="42182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Claude-3.7 Sonnet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74.4%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29.7%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3383238"/>
                  </a:ext>
                </a:extLst>
              </a:tr>
              <a:tr h="42182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Gemini-2.0 Flash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76.7%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44.0%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95905927"/>
                  </a:ext>
                </a:extLst>
              </a:tr>
              <a:tr h="42182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Le Chat - Mistral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72.1%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31.9%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96794631"/>
                  </a:ext>
                </a:extLst>
              </a:tr>
              <a:tr h="42182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Average Overall: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i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80.0%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i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38.3%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49280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35795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241804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9E3582D-2301-5099-7FCB-EA5FFE446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816638"/>
            <a:ext cx="3367359" cy="5224724"/>
          </a:xfrm>
        </p:spPr>
        <p:txBody>
          <a:bodyPr anchor="ctr"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20C36-F21F-86D7-EAD5-F3AFD6EAD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816638"/>
            <a:ext cx="4619706" cy="5224724"/>
          </a:xfrm>
        </p:spPr>
        <p:txBody>
          <a:bodyPr anchor="ctr">
            <a:normAutofit/>
          </a:bodyPr>
          <a:lstStyle/>
          <a:p>
            <a:r>
              <a:rPr lang="en-US" dirty="0"/>
              <a:t>Successfully integrated and replicated NLP Sentiment tasks of POLAR using LLMs.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Current Implementation:</a:t>
            </a:r>
            <a:endParaRPr lang="en-US" dirty="0"/>
          </a:p>
          <a:p>
            <a:r>
              <a:rPr lang="en-US" dirty="0"/>
              <a:t>Outperformed POLAR in Semantic understanding and attitude depth</a:t>
            </a:r>
          </a:p>
          <a:p>
            <a:endParaRPr lang="en-US" dirty="0"/>
          </a:p>
          <a:p>
            <a:r>
              <a:rPr lang="en-US" dirty="0"/>
              <a:t>Demonstrated that LLMs offer improvements in polarization detection</a:t>
            </a:r>
          </a:p>
          <a:p>
            <a:endParaRPr lang="en-US" dirty="0"/>
          </a:p>
          <a:p>
            <a:r>
              <a:rPr lang="en-US" dirty="0"/>
              <a:t>Showed that Open-Weight models like Mistral can be utilized as alternatives to API based LLMs</a:t>
            </a:r>
          </a:p>
        </p:txBody>
      </p:sp>
    </p:spTree>
    <p:extLst>
      <p:ext uri="{BB962C8B-B14F-4D97-AF65-F5344CB8AC3E}">
        <p14:creationId xmlns:p14="http://schemas.microsoft.com/office/powerpoint/2010/main" val="36435204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8BC73-D9AB-6B0E-1539-76D2A001F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9562" y="609600"/>
            <a:ext cx="6424440" cy="1320800"/>
          </a:xfrm>
        </p:spPr>
        <p:txBody>
          <a:bodyPr>
            <a:normAutofit/>
          </a:bodyPr>
          <a:lstStyle/>
          <a:p>
            <a:r>
              <a:rPr lang="en-US" dirty="0"/>
              <a:t>Future Work</a:t>
            </a: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9F8803AC-EE0E-40C2-AD46-FD84FAD82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916" y="3822970"/>
            <a:ext cx="496112" cy="2918298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8D045524-444D-FA83-054D-F8CB262606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387" r="28188"/>
          <a:stretch>
            <a:fillRect/>
          </a:stretch>
        </p:blipFill>
        <p:spPr>
          <a:xfrm>
            <a:off x="20" y="1"/>
            <a:ext cx="2734036" cy="6858000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461457" y="6858000"/>
                </a:lnTo>
                <a:lnTo>
                  <a:pt x="0" y="4134118"/>
                </a:lnTo>
                <a:close/>
              </a:path>
            </a:pathLst>
          </a:custGeom>
        </p:spPr>
      </p:pic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051A3413-562D-435C-AAE4-56808F0CBC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1"/>
            <a:ext cx="476655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B0FA1-97A2-2E34-CBBF-B0EA66720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9562" y="2160589"/>
            <a:ext cx="6424440" cy="388077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Dataset Expansion, this thesis worked on ~800 articles per topic due to resource constraints.</a:t>
            </a:r>
            <a:endParaRPr lang="en-US"/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 dirty="0"/>
              <a:t>Evaluate the model in different domains (healthcare, climate change).</a:t>
            </a:r>
            <a:endParaRPr lang="en-US"/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 dirty="0"/>
              <a:t>Utilize a more dynamic Sentiment Scoring.</a:t>
            </a:r>
            <a:endParaRPr lang="en-US"/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 dirty="0"/>
              <a:t>Additional Training and Evaluation of Fine-Tuning Mistral</a:t>
            </a:r>
            <a:endParaRPr lang="en-US"/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 dirty="0"/>
              <a:t>Expand the datasets and logic for non-English corpora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1971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09B7E24-271E-4A3A-9D65-EE95ED972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5C59434-03B2-4F06-8362-A01DD785E2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DF3815-C9F7-4B9E-A371-DE71C4E9D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>
              <a:extLst>
                <a:ext uri="{FF2B5EF4-FFF2-40B4-BE49-F238E27FC236}">
                  <a16:creationId xmlns:a16="http://schemas.microsoft.com/office/drawing/2014/main" id="{34C30A41-6D9F-42F2-BE4A-B6D2E4400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>
              <a:extLst>
                <a:ext uri="{FF2B5EF4-FFF2-40B4-BE49-F238E27FC236}">
                  <a16:creationId xmlns:a16="http://schemas.microsoft.com/office/drawing/2014/main" id="{8577AE11-EC00-4E67-9DDD-624E9DA123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406A24DE-7A6F-4459-9A79-712243D200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>
              <a:extLst>
                <a:ext uri="{FF2B5EF4-FFF2-40B4-BE49-F238E27FC236}">
                  <a16:creationId xmlns:a16="http://schemas.microsoft.com/office/drawing/2014/main" id="{BFEBE697-7D77-4AC8-8E68-0483B47DF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>
              <a:extLst>
                <a:ext uri="{FF2B5EF4-FFF2-40B4-BE49-F238E27FC236}">
                  <a16:creationId xmlns:a16="http://schemas.microsoft.com/office/drawing/2014/main" id="{49FC7B15-C721-4A23-8F6A-2CFA77C614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>
              <a:extLst>
                <a:ext uri="{FF2B5EF4-FFF2-40B4-BE49-F238E27FC236}">
                  <a16:creationId xmlns:a16="http://schemas.microsoft.com/office/drawing/2014/main" id="{164E8ACB-FC50-451D-AF0A-879ABC6EA6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D5F354A0-F0C9-4254-A913-DD68E78161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9B01B525-8D81-44A3-BC1F-C711B89D23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53DD743-7475-69A8-C18D-77B696B42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337" y="1265314"/>
            <a:ext cx="4299666" cy="324913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 dirty="0"/>
              <a:t>Thank you for your Attention!</a:t>
            </a:r>
            <a:br>
              <a:rPr lang="en-US" sz="4600" dirty="0"/>
            </a:br>
            <a:br>
              <a:rPr lang="en-US" sz="4600" i="1" dirty="0"/>
            </a:br>
            <a:r>
              <a:rPr lang="en-US" sz="4600" i="1" dirty="0"/>
              <a:t>Do you have any Questions?</a:t>
            </a:r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ADC5C86B-28CE-4597-97B7-4C09E20141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174" y="1270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Graphic 14" descr="Questions">
            <a:extLst>
              <a:ext uri="{FF2B5EF4-FFF2-40B4-BE49-F238E27FC236}">
                <a16:creationId xmlns:a16="http://schemas.microsoft.com/office/drawing/2014/main" id="{61F2A663-218D-28A5-A390-98B49CB16B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8604" y="1550139"/>
            <a:ext cx="3765692" cy="376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0288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94244-8EA7-4403-2161-330325E24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0A1D6-3B0C-3094-8485-88EF91F8B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334340"/>
          </a:xfrm>
        </p:spPr>
        <p:txBody>
          <a:bodyPr>
            <a:normAutofit/>
          </a:bodyPr>
          <a:lstStyle/>
          <a:p>
            <a:r>
              <a:rPr lang="en-US" dirty="0"/>
              <a:t>[1]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Paschalides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Demetris, George Pallis, and Marios D.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Dikaiakos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"Polar: a holistic framework for the modelling of polarization and identification of polarizing topics in news media."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Proceedings of the 2021 IEEE/ACM International Conference on Advances in Social Networks Analysis and Mining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2021.</a:t>
            </a: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[2] Resta, Raffaele, and David Vanderbilt. "Theory of polarization: a modern approach."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Physics of ferroelectrics: a modern perspective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Berlin, Heidelberg: Springer Berlin Heidelberg, 2007. 31-68.</a:t>
            </a:r>
          </a:p>
          <a:p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[3]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Fiorina, Morris P., Samuel J. Abrams, and Jeremy Pope. "Culture war? The myth of a polarized America." (2004).</a:t>
            </a:r>
          </a:p>
          <a:p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[4]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Vicario, Michela Del, et al. "Polarization and fake news: Early warning of potential misinformation targets."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ACM Transactions on the Web (TWEB)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13.2 (2019): 1-22.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6686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A5DDD-1768-59B7-9310-283F60CD9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034BF-C3B9-1176-A5D8-A7784A03A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[6]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Hobolt, Sara B., Thomas J. Leeper, and James Tilley. "Divided by the vote: Affective polarization in the wake of the Brexit referendum."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British Journal of Political Science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51.4 (2021): 1476-1493.</a:t>
            </a:r>
          </a:p>
          <a:p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[7]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Rekker, Roderik. "Political polarization over factual beliefs."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Knowledge resistance in high-choice information environments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Routledge, 2022. 222-236.</a:t>
            </a:r>
          </a:p>
          <a:p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[8]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Guo, Daya, et al. "Deepseek-r1: Incentivizing reasoning capability in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llms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via reinforcement learning." </a:t>
            </a:r>
            <a:r>
              <a:rPr lang="en-US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preprint arXiv:2501.12948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(2025).</a:t>
            </a:r>
          </a:p>
          <a:p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[9]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Mitsa, Oleksandr, et al. "A Comparative Study of Machine Learning Algorithms and the Prompting Approach Using GPT-3.5 Turbo for Text Categorization."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Conference on Computer Science, Engineering and Education Applications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Cham: Springer Nature Switzerland, 2024.</a:t>
            </a:r>
            <a:endParaRPr lang="en-US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25657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955</TotalTime>
  <Words>2108</Words>
  <Application>Microsoft Office PowerPoint</Application>
  <PresentationFormat>Widescreen</PresentationFormat>
  <Paragraphs>375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Aptos</vt:lpstr>
      <vt:lpstr>Arial</vt:lpstr>
      <vt:lpstr>Times New Roman</vt:lpstr>
      <vt:lpstr>Trebuchet MS</vt:lpstr>
      <vt:lpstr>Wingdings 3</vt:lpstr>
      <vt:lpstr>Facet</vt:lpstr>
      <vt:lpstr>A Hybrid Approach to Polarization Detection: Replacing Traditional NLP tasks with Large Language Models</vt:lpstr>
      <vt:lpstr>Table Of Contents</vt:lpstr>
      <vt:lpstr>Introduction</vt:lpstr>
      <vt:lpstr>What is Polarization?</vt:lpstr>
      <vt:lpstr>Real World examples of Polarization</vt:lpstr>
      <vt:lpstr>POLAR Framework</vt:lpstr>
      <vt:lpstr>POLAR Limitations</vt:lpstr>
      <vt:lpstr>Objectives</vt:lpstr>
      <vt:lpstr>Large Language Models (LLMs)</vt:lpstr>
      <vt:lpstr>GPT-3.5-turbo</vt:lpstr>
      <vt:lpstr>Deepseek-R1-8B</vt:lpstr>
      <vt:lpstr>Fine-Tuned Mistral-7B</vt:lpstr>
      <vt:lpstr>Implementation</vt:lpstr>
      <vt:lpstr>Article Gathering</vt:lpstr>
      <vt:lpstr>LLM Communicator</vt:lpstr>
      <vt:lpstr>LLM Authenticator</vt:lpstr>
      <vt:lpstr>Injection into POLAR</vt:lpstr>
      <vt:lpstr>Evaluation</vt:lpstr>
      <vt:lpstr>Metrics Used</vt:lpstr>
      <vt:lpstr>Results &amp; Analysis</vt:lpstr>
      <vt:lpstr>Mistral Attitudes Comparison</vt:lpstr>
      <vt:lpstr>Mistral Usage Conclusion</vt:lpstr>
      <vt:lpstr>POLAR / GPT Attitudes Comparison</vt:lpstr>
      <vt:lpstr>Overall Attitude Summary</vt:lpstr>
      <vt:lpstr>Attitude Summary: Brexit Dataset</vt:lpstr>
      <vt:lpstr>Topics Coverage: Brexit Dataset</vt:lpstr>
      <vt:lpstr>Pair Frequencies: Brexit Dataset</vt:lpstr>
      <vt:lpstr>Signed Attitude Graphs (SAG)</vt:lpstr>
      <vt:lpstr>Polarization Dipole Graph</vt:lpstr>
      <vt:lpstr>Polarization Topics Analysis</vt:lpstr>
      <vt:lpstr>Conclusion</vt:lpstr>
      <vt:lpstr>Future Work</vt:lpstr>
      <vt:lpstr>Thank you for your Attention!  Do you have any Questions?</vt:lpstr>
      <vt:lpstr>References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Alexandros Modestou</dc:creator>
  <cp:lastModifiedBy>Alexandros Modestou</cp:lastModifiedBy>
  <cp:revision>138</cp:revision>
  <dcterms:created xsi:type="dcterms:W3CDTF">2025-05-23T17:49:49Z</dcterms:created>
  <dcterms:modified xsi:type="dcterms:W3CDTF">2025-05-25T15:48:10Z</dcterms:modified>
</cp:coreProperties>
</file>