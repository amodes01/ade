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sldIdLst>
    <p:sldId id="256" r:id="rId2"/>
    <p:sldId id="257" r:id="rId3"/>
    <p:sldId id="258" r:id="rId4"/>
    <p:sldId id="259" r:id="rId5"/>
    <p:sldId id="281" r:id="rId6"/>
    <p:sldId id="291" r:id="rId7"/>
    <p:sldId id="283" r:id="rId8"/>
    <p:sldId id="286" r:id="rId9"/>
    <p:sldId id="290" r:id="rId10"/>
    <p:sldId id="282" r:id="rId11"/>
    <p:sldId id="261" r:id="rId12"/>
    <p:sldId id="263" r:id="rId13"/>
    <p:sldId id="279" r:id="rId14"/>
    <p:sldId id="280" r:id="rId15"/>
    <p:sldId id="278" r:id="rId16"/>
    <p:sldId id="284" r:id="rId17"/>
    <p:sldId id="289" r:id="rId18"/>
    <p:sldId id="264" r:id="rId19"/>
    <p:sldId id="275" r:id="rId20"/>
    <p:sldId id="276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85" r:id="rId31"/>
    <p:sldId id="287" r:id="rId32"/>
    <p:sldId id="288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67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AD1C9E6-FAD3-47C3-B8FB-04C764464C29}" type="doc">
      <dgm:prSet loTypeId="urn:microsoft.com/office/officeart/2005/8/layout/vList5" loCatId="list" qsTypeId="urn:microsoft.com/office/officeart/2005/8/quickstyle/simple2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6D37081-45DA-4624-ACBF-5B4AABDABFD5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7B24D107-9152-47B6-B3F5-973A6B7E94E3}" type="parTrans" cxnId="{8646AED7-6077-4205-B9DA-FF9A7BE34801}">
      <dgm:prSet/>
      <dgm:spPr/>
      <dgm:t>
        <a:bodyPr/>
        <a:lstStyle/>
        <a:p>
          <a:endParaRPr lang="en-US"/>
        </a:p>
      </dgm:t>
    </dgm:pt>
    <dgm:pt modelId="{E2B8EB05-6372-425D-8882-CF91A9505E26}" type="sibTrans" cxnId="{8646AED7-6077-4205-B9DA-FF9A7BE34801}">
      <dgm:prSet/>
      <dgm:spPr/>
      <dgm:t>
        <a:bodyPr/>
        <a:lstStyle/>
        <a:p>
          <a:endParaRPr lang="en-US"/>
        </a:p>
      </dgm:t>
    </dgm:pt>
    <dgm:pt modelId="{88CA96D5-0ECD-450A-B2E5-3C85AB228455}">
      <dgm:prSet/>
      <dgm:spPr/>
      <dgm:t>
        <a:bodyPr/>
        <a:lstStyle/>
        <a:p>
          <a:r>
            <a:rPr lang="en-US" dirty="0"/>
            <a:t>POLAR Framework</a:t>
          </a:r>
        </a:p>
      </dgm:t>
    </dgm:pt>
    <dgm:pt modelId="{56175E32-3F48-4FE4-A28A-69035E833E76}" type="parTrans" cxnId="{9BF4BBF3-2419-4830-A8CF-0B2CF38C854A}">
      <dgm:prSet/>
      <dgm:spPr/>
      <dgm:t>
        <a:bodyPr/>
        <a:lstStyle/>
        <a:p>
          <a:endParaRPr lang="en-US"/>
        </a:p>
      </dgm:t>
    </dgm:pt>
    <dgm:pt modelId="{D3C95F2F-2B1B-4982-8A23-3472E3FEFD14}" type="sibTrans" cxnId="{9BF4BBF3-2419-4830-A8CF-0B2CF38C854A}">
      <dgm:prSet/>
      <dgm:spPr/>
      <dgm:t>
        <a:bodyPr/>
        <a:lstStyle/>
        <a:p>
          <a:endParaRPr lang="en-US"/>
        </a:p>
      </dgm:t>
    </dgm:pt>
    <dgm:pt modelId="{08078E85-3288-49D4-9BD1-7D6C45ED0920}">
      <dgm:prSet/>
      <dgm:spPr/>
      <dgm:t>
        <a:bodyPr/>
        <a:lstStyle/>
        <a:p>
          <a:r>
            <a:rPr lang="en-US" dirty="0"/>
            <a:t>LLM Integration</a:t>
          </a:r>
        </a:p>
      </dgm:t>
    </dgm:pt>
    <dgm:pt modelId="{E0D8E988-FDC2-4570-988E-9F552F18BCB0}" type="parTrans" cxnId="{69DA0CAC-004F-41C5-BF24-BBA415E55E5C}">
      <dgm:prSet/>
      <dgm:spPr/>
      <dgm:t>
        <a:bodyPr/>
        <a:lstStyle/>
        <a:p>
          <a:endParaRPr lang="en-US"/>
        </a:p>
      </dgm:t>
    </dgm:pt>
    <dgm:pt modelId="{CAD28AFF-DED6-4033-BF34-63249E47D5DD}" type="sibTrans" cxnId="{69DA0CAC-004F-41C5-BF24-BBA415E55E5C}">
      <dgm:prSet/>
      <dgm:spPr/>
      <dgm:t>
        <a:bodyPr/>
        <a:lstStyle/>
        <a:p>
          <a:endParaRPr lang="en-US"/>
        </a:p>
      </dgm:t>
    </dgm:pt>
    <dgm:pt modelId="{6644AF87-81EB-4ADE-A7A1-CDD3CD3E7D81}">
      <dgm:prSet/>
      <dgm:spPr/>
      <dgm:t>
        <a:bodyPr/>
        <a:lstStyle/>
        <a:p>
          <a:r>
            <a:rPr lang="en-US"/>
            <a:t>Evaluation</a:t>
          </a:r>
        </a:p>
      </dgm:t>
    </dgm:pt>
    <dgm:pt modelId="{8DF13AD6-DC7B-46E4-AAC2-C96B7A827CA0}" type="parTrans" cxnId="{0536E1B1-DF47-4F81-85E7-F2D68367909F}">
      <dgm:prSet/>
      <dgm:spPr/>
      <dgm:t>
        <a:bodyPr/>
        <a:lstStyle/>
        <a:p>
          <a:endParaRPr lang="en-US"/>
        </a:p>
      </dgm:t>
    </dgm:pt>
    <dgm:pt modelId="{7BF5EA0E-4141-4445-8066-0C44ADEBB4EE}" type="sibTrans" cxnId="{0536E1B1-DF47-4F81-85E7-F2D68367909F}">
      <dgm:prSet/>
      <dgm:spPr/>
      <dgm:t>
        <a:bodyPr/>
        <a:lstStyle/>
        <a:p>
          <a:endParaRPr lang="en-US"/>
        </a:p>
      </dgm:t>
    </dgm:pt>
    <dgm:pt modelId="{648755B1-6475-41E2-935A-81A237D57064}">
      <dgm:prSet/>
      <dgm:spPr/>
      <dgm:t>
        <a:bodyPr/>
        <a:lstStyle/>
        <a:p>
          <a:r>
            <a:rPr lang="en-US"/>
            <a:t>Results &amp; Analysis</a:t>
          </a:r>
        </a:p>
      </dgm:t>
    </dgm:pt>
    <dgm:pt modelId="{19D625DA-B837-4248-BD24-8FF04DF0458A}" type="parTrans" cxnId="{88F5997C-28A9-4F27-BDC8-D3649C3B4F4D}">
      <dgm:prSet/>
      <dgm:spPr/>
      <dgm:t>
        <a:bodyPr/>
        <a:lstStyle/>
        <a:p>
          <a:endParaRPr lang="en-US"/>
        </a:p>
      </dgm:t>
    </dgm:pt>
    <dgm:pt modelId="{1101A902-A9BC-48CB-9A4C-F70D02DECEF6}" type="sibTrans" cxnId="{88F5997C-28A9-4F27-BDC8-D3649C3B4F4D}">
      <dgm:prSet/>
      <dgm:spPr/>
      <dgm:t>
        <a:bodyPr/>
        <a:lstStyle/>
        <a:p>
          <a:endParaRPr lang="en-US"/>
        </a:p>
      </dgm:t>
    </dgm:pt>
    <dgm:pt modelId="{3F70F1A0-9B42-4EFE-8FA4-C81FBFCED328}">
      <dgm:prSet/>
      <dgm:spPr/>
      <dgm:t>
        <a:bodyPr/>
        <a:lstStyle/>
        <a:p>
          <a:r>
            <a:rPr lang="en-US"/>
            <a:t>Conclusion</a:t>
          </a:r>
        </a:p>
      </dgm:t>
    </dgm:pt>
    <dgm:pt modelId="{367DA880-0BA1-42C6-AA0F-0668046EE23B}" type="parTrans" cxnId="{6F887D29-3A9D-4A0D-BB5B-21E36EA8B26B}">
      <dgm:prSet/>
      <dgm:spPr/>
      <dgm:t>
        <a:bodyPr/>
        <a:lstStyle/>
        <a:p>
          <a:endParaRPr lang="en-US"/>
        </a:p>
      </dgm:t>
    </dgm:pt>
    <dgm:pt modelId="{6E5BB2E8-C60E-45A6-8703-434F469ECE11}" type="sibTrans" cxnId="{6F887D29-3A9D-4A0D-BB5B-21E36EA8B26B}">
      <dgm:prSet/>
      <dgm:spPr/>
      <dgm:t>
        <a:bodyPr/>
        <a:lstStyle/>
        <a:p>
          <a:endParaRPr lang="en-US"/>
        </a:p>
      </dgm:t>
    </dgm:pt>
    <dgm:pt modelId="{B4E11199-5A33-42DC-9939-903A99FD9F5E}">
      <dgm:prSet/>
      <dgm:spPr/>
      <dgm:t>
        <a:bodyPr/>
        <a:lstStyle/>
        <a:p>
          <a:r>
            <a:rPr lang="en-US"/>
            <a:t>Future Work</a:t>
          </a:r>
        </a:p>
      </dgm:t>
    </dgm:pt>
    <dgm:pt modelId="{D02B4790-FC66-4523-8E55-A632FBE177DC}" type="parTrans" cxnId="{4273C197-5E21-4E60-B128-58183F2D30FF}">
      <dgm:prSet/>
      <dgm:spPr/>
      <dgm:t>
        <a:bodyPr/>
        <a:lstStyle/>
        <a:p>
          <a:endParaRPr lang="en-US"/>
        </a:p>
      </dgm:t>
    </dgm:pt>
    <dgm:pt modelId="{813AA932-C177-4E59-B659-F64B861CBC4A}" type="sibTrans" cxnId="{4273C197-5E21-4E60-B128-58183F2D30FF}">
      <dgm:prSet/>
      <dgm:spPr/>
      <dgm:t>
        <a:bodyPr/>
        <a:lstStyle/>
        <a:p>
          <a:endParaRPr lang="en-US"/>
        </a:p>
      </dgm:t>
    </dgm:pt>
    <dgm:pt modelId="{D044E51A-9B4A-43FC-A95E-9FB28B890A6A}">
      <dgm:prSet/>
      <dgm:spPr/>
      <dgm:t>
        <a:bodyPr/>
        <a:lstStyle/>
        <a:p>
          <a:r>
            <a:rPr lang="en-US" dirty="0"/>
            <a:t>Large Language Models</a:t>
          </a:r>
        </a:p>
      </dgm:t>
    </dgm:pt>
    <dgm:pt modelId="{194B84AC-1381-4AB6-8306-1CFADAF7634E}" type="sibTrans" cxnId="{2EF51232-940C-44C4-B6DF-5DA1D25B8119}">
      <dgm:prSet/>
      <dgm:spPr/>
      <dgm:t>
        <a:bodyPr/>
        <a:lstStyle/>
        <a:p>
          <a:endParaRPr lang="en-US"/>
        </a:p>
      </dgm:t>
    </dgm:pt>
    <dgm:pt modelId="{C7B7CA0B-A671-4E08-8BE5-2CF3C5A2523E}" type="parTrans" cxnId="{2EF51232-940C-44C4-B6DF-5DA1D25B8119}">
      <dgm:prSet/>
      <dgm:spPr/>
      <dgm:t>
        <a:bodyPr/>
        <a:lstStyle/>
        <a:p>
          <a:endParaRPr lang="en-US"/>
        </a:p>
      </dgm:t>
    </dgm:pt>
    <dgm:pt modelId="{7C1A1444-16FD-4228-8A13-24F7854DC7DA}">
      <dgm:prSet/>
      <dgm:spPr/>
      <dgm:t>
        <a:bodyPr/>
        <a:lstStyle/>
        <a:p>
          <a:r>
            <a:rPr lang="en-US" dirty="0"/>
            <a:t>Objectives</a:t>
          </a:r>
        </a:p>
      </dgm:t>
    </dgm:pt>
    <dgm:pt modelId="{3BCAE110-3A9B-4825-88F0-3675F2AC3AEC}" type="parTrans" cxnId="{2CE9FECF-31A1-4521-B4B0-23516FB6B729}">
      <dgm:prSet/>
      <dgm:spPr/>
      <dgm:t>
        <a:bodyPr/>
        <a:lstStyle/>
        <a:p>
          <a:endParaRPr lang="en-US"/>
        </a:p>
      </dgm:t>
    </dgm:pt>
    <dgm:pt modelId="{D1415C7D-46D2-4404-9C65-5BB01F490124}" type="sibTrans" cxnId="{2CE9FECF-31A1-4521-B4B0-23516FB6B729}">
      <dgm:prSet/>
      <dgm:spPr/>
      <dgm:t>
        <a:bodyPr/>
        <a:lstStyle/>
        <a:p>
          <a:endParaRPr lang="en-US"/>
        </a:p>
      </dgm:t>
    </dgm:pt>
    <dgm:pt modelId="{648AEBD6-AC80-4A10-A710-57859C1BCCD5}" type="pres">
      <dgm:prSet presAssocID="{DAD1C9E6-FAD3-47C3-B8FB-04C764464C29}" presName="Name0" presStyleCnt="0">
        <dgm:presLayoutVars>
          <dgm:dir/>
          <dgm:animLvl val="lvl"/>
          <dgm:resizeHandles val="exact"/>
        </dgm:presLayoutVars>
      </dgm:prSet>
      <dgm:spPr/>
    </dgm:pt>
    <dgm:pt modelId="{1480FA36-C394-4ED5-BD41-CEE641BE8DAF}" type="pres">
      <dgm:prSet presAssocID="{06D37081-45DA-4624-ACBF-5B4AABDABFD5}" presName="linNode" presStyleCnt="0"/>
      <dgm:spPr/>
    </dgm:pt>
    <dgm:pt modelId="{ABCF3414-B420-408B-98C2-635053F091F0}" type="pres">
      <dgm:prSet presAssocID="{06D37081-45DA-4624-ACBF-5B4AABDABFD5}" presName="parentText" presStyleLbl="node1" presStyleIdx="0" presStyleCnt="9">
        <dgm:presLayoutVars>
          <dgm:chMax val="1"/>
          <dgm:bulletEnabled val="1"/>
        </dgm:presLayoutVars>
      </dgm:prSet>
      <dgm:spPr/>
    </dgm:pt>
    <dgm:pt modelId="{DDEE0D5D-8AEA-4BC1-AB36-7481D9173B6E}" type="pres">
      <dgm:prSet presAssocID="{E2B8EB05-6372-425D-8882-CF91A9505E26}" presName="sp" presStyleCnt="0"/>
      <dgm:spPr/>
    </dgm:pt>
    <dgm:pt modelId="{7B9D258B-0171-43D6-87DE-ACF9EE617367}" type="pres">
      <dgm:prSet presAssocID="{88CA96D5-0ECD-450A-B2E5-3C85AB228455}" presName="linNode" presStyleCnt="0"/>
      <dgm:spPr/>
    </dgm:pt>
    <dgm:pt modelId="{D298E97B-1053-435B-B844-E182EA94393F}" type="pres">
      <dgm:prSet presAssocID="{88CA96D5-0ECD-450A-B2E5-3C85AB228455}" presName="parentText" presStyleLbl="node1" presStyleIdx="1" presStyleCnt="9">
        <dgm:presLayoutVars>
          <dgm:chMax val="1"/>
          <dgm:bulletEnabled val="1"/>
        </dgm:presLayoutVars>
      </dgm:prSet>
      <dgm:spPr/>
    </dgm:pt>
    <dgm:pt modelId="{6B428D1D-610F-4BC8-AFD1-7AC26B51B150}" type="pres">
      <dgm:prSet presAssocID="{D3C95F2F-2B1B-4982-8A23-3472E3FEFD14}" presName="sp" presStyleCnt="0"/>
      <dgm:spPr/>
    </dgm:pt>
    <dgm:pt modelId="{0765A09F-5826-4C45-AA9F-8EEDE92275AE}" type="pres">
      <dgm:prSet presAssocID="{7C1A1444-16FD-4228-8A13-24F7854DC7DA}" presName="linNode" presStyleCnt="0"/>
      <dgm:spPr/>
    </dgm:pt>
    <dgm:pt modelId="{D29DD54E-9758-43A1-BD48-9F6A5592C825}" type="pres">
      <dgm:prSet presAssocID="{7C1A1444-16FD-4228-8A13-24F7854DC7DA}" presName="parentText" presStyleLbl="node1" presStyleIdx="2" presStyleCnt="9">
        <dgm:presLayoutVars>
          <dgm:chMax val="1"/>
          <dgm:bulletEnabled val="1"/>
        </dgm:presLayoutVars>
      </dgm:prSet>
      <dgm:spPr/>
    </dgm:pt>
    <dgm:pt modelId="{CD8589CD-EFC2-46A8-8BF9-68D24C4D6FA5}" type="pres">
      <dgm:prSet presAssocID="{D1415C7D-46D2-4404-9C65-5BB01F490124}" presName="sp" presStyleCnt="0"/>
      <dgm:spPr/>
    </dgm:pt>
    <dgm:pt modelId="{2F0D98B7-D3A8-4955-9446-3C65ED446703}" type="pres">
      <dgm:prSet presAssocID="{D044E51A-9B4A-43FC-A95E-9FB28B890A6A}" presName="linNode" presStyleCnt="0"/>
      <dgm:spPr/>
    </dgm:pt>
    <dgm:pt modelId="{42FCB565-2F8B-4597-8865-4F997E6E3587}" type="pres">
      <dgm:prSet presAssocID="{D044E51A-9B4A-43FC-A95E-9FB28B890A6A}" presName="parentText" presStyleLbl="node1" presStyleIdx="3" presStyleCnt="9">
        <dgm:presLayoutVars>
          <dgm:chMax val="1"/>
          <dgm:bulletEnabled val="1"/>
        </dgm:presLayoutVars>
      </dgm:prSet>
      <dgm:spPr/>
    </dgm:pt>
    <dgm:pt modelId="{E7417E10-4266-4E80-B50B-D46C985CDD8D}" type="pres">
      <dgm:prSet presAssocID="{194B84AC-1381-4AB6-8306-1CFADAF7634E}" presName="sp" presStyleCnt="0"/>
      <dgm:spPr/>
    </dgm:pt>
    <dgm:pt modelId="{92521C04-8CF3-4253-ACF9-C561B80FFBC1}" type="pres">
      <dgm:prSet presAssocID="{08078E85-3288-49D4-9BD1-7D6C45ED0920}" presName="linNode" presStyleCnt="0"/>
      <dgm:spPr/>
    </dgm:pt>
    <dgm:pt modelId="{75C6D2BB-6ED7-405C-B450-5E4D169A4AAB}" type="pres">
      <dgm:prSet presAssocID="{08078E85-3288-49D4-9BD1-7D6C45ED0920}" presName="parentText" presStyleLbl="node1" presStyleIdx="4" presStyleCnt="9">
        <dgm:presLayoutVars>
          <dgm:chMax val="1"/>
          <dgm:bulletEnabled val="1"/>
        </dgm:presLayoutVars>
      </dgm:prSet>
      <dgm:spPr/>
    </dgm:pt>
    <dgm:pt modelId="{87A5F714-D02C-46AF-B470-42B979D13B9A}" type="pres">
      <dgm:prSet presAssocID="{CAD28AFF-DED6-4033-BF34-63249E47D5DD}" presName="sp" presStyleCnt="0"/>
      <dgm:spPr/>
    </dgm:pt>
    <dgm:pt modelId="{26658E3B-A10D-4C7F-88D3-C93D185AED90}" type="pres">
      <dgm:prSet presAssocID="{6644AF87-81EB-4ADE-A7A1-CDD3CD3E7D81}" presName="linNode" presStyleCnt="0"/>
      <dgm:spPr/>
    </dgm:pt>
    <dgm:pt modelId="{14A9FA02-BF86-4705-B0EC-E727E4AF3F7C}" type="pres">
      <dgm:prSet presAssocID="{6644AF87-81EB-4ADE-A7A1-CDD3CD3E7D81}" presName="parentText" presStyleLbl="node1" presStyleIdx="5" presStyleCnt="9">
        <dgm:presLayoutVars>
          <dgm:chMax val="1"/>
          <dgm:bulletEnabled val="1"/>
        </dgm:presLayoutVars>
      </dgm:prSet>
      <dgm:spPr/>
    </dgm:pt>
    <dgm:pt modelId="{A5953A82-1DFA-4845-B2EE-75B04246F1B6}" type="pres">
      <dgm:prSet presAssocID="{7BF5EA0E-4141-4445-8066-0C44ADEBB4EE}" presName="sp" presStyleCnt="0"/>
      <dgm:spPr/>
    </dgm:pt>
    <dgm:pt modelId="{6349597E-BB79-4C10-ABE3-E9B5D2FC4527}" type="pres">
      <dgm:prSet presAssocID="{648755B1-6475-41E2-935A-81A237D57064}" presName="linNode" presStyleCnt="0"/>
      <dgm:spPr/>
    </dgm:pt>
    <dgm:pt modelId="{4EBC644D-07DE-4C58-B645-68DF093DA4FC}" type="pres">
      <dgm:prSet presAssocID="{648755B1-6475-41E2-935A-81A237D57064}" presName="parentText" presStyleLbl="node1" presStyleIdx="6" presStyleCnt="9">
        <dgm:presLayoutVars>
          <dgm:chMax val="1"/>
          <dgm:bulletEnabled val="1"/>
        </dgm:presLayoutVars>
      </dgm:prSet>
      <dgm:spPr/>
    </dgm:pt>
    <dgm:pt modelId="{F98477EF-73B4-4A79-BAAD-CA5ED9487C5C}" type="pres">
      <dgm:prSet presAssocID="{1101A902-A9BC-48CB-9A4C-F70D02DECEF6}" presName="sp" presStyleCnt="0"/>
      <dgm:spPr/>
    </dgm:pt>
    <dgm:pt modelId="{A2D90FC9-264F-4CF2-9F24-AF3A2B12C6AA}" type="pres">
      <dgm:prSet presAssocID="{3F70F1A0-9B42-4EFE-8FA4-C81FBFCED328}" presName="linNode" presStyleCnt="0"/>
      <dgm:spPr/>
    </dgm:pt>
    <dgm:pt modelId="{59F362CD-5718-4BF2-83B5-F50E914A976D}" type="pres">
      <dgm:prSet presAssocID="{3F70F1A0-9B42-4EFE-8FA4-C81FBFCED328}" presName="parentText" presStyleLbl="node1" presStyleIdx="7" presStyleCnt="9">
        <dgm:presLayoutVars>
          <dgm:chMax val="1"/>
          <dgm:bulletEnabled val="1"/>
        </dgm:presLayoutVars>
      </dgm:prSet>
      <dgm:spPr/>
    </dgm:pt>
    <dgm:pt modelId="{03FEB88D-B1F9-4FDF-885A-CFBF8802A2DF}" type="pres">
      <dgm:prSet presAssocID="{6E5BB2E8-C60E-45A6-8703-434F469ECE11}" presName="sp" presStyleCnt="0"/>
      <dgm:spPr/>
    </dgm:pt>
    <dgm:pt modelId="{941BBBF8-BBDE-48A3-A9D0-BBD046A846EB}" type="pres">
      <dgm:prSet presAssocID="{B4E11199-5A33-42DC-9939-903A99FD9F5E}" presName="linNode" presStyleCnt="0"/>
      <dgm:spPr/>
    </dgm:pt>
    <dgm:pt modelId="{048554EF-614D-429F-841D-BF474718886B}" type="pres">
      <dgm:prSet presAssocID="{B4E11199-5A33-42DC-9939-903A99FD9F5E}" presName="parentText" presStyleLbl="node1" presStyleIdx="8" presStyleCnt="9">
        <dgm:presLayoutVars>
          <dgm:chMax val="1"/>
          <dgm:bulletEnabled val="1"/>
        </dgm:presLayoutVars>
      </dgm:prSet>
      <dgm:spPr/>
    </dgm:pt>
  </dgm:ptLst>
  <dgm:cxnLst>
    <dgm:cxn modelId="{A8E92D0C-2A24-4F1F-8382-50A932C70CFC}" type="presOf" srcId="{B4E11199-5A33-42DC-9939-903A99FD9F5E}" destId="{048554EF-614D-429F-841D-BF474718886B}" srcOrd="0" destOrd="0" presId="urn:microsoft.com/office/officeart/2005/8/layout/vList5"/>
    <dgm:cxn modelId="{97D17118-B06D-44BA-B510-4D8F9E5C8601}" type="presOf" srcId="{648755B1-6475-41E2-935A-81A237D57064}" destId="{4EBC644D-07DE-4C58-B645-68DF093DA4FC}" srcOrd="0" destOrd="0" presId="urn:microsoft.com/office/officeart/2005/8/layout/vList5"/>
    <dgm:cxn modelId="{6F887D29-3A9D-4A0D-BB5B-21E36EA8B26B}" srcId="{DAD1C9E6-FAD3-47C3-B8FB-04C764464C29}" destId="{3F70F1A0-9B42-4EFE-8FA4-C81FBFCED328}" srcOrd="7" destOrd="0" parTransId="{367DA880-0BA1-42C6-AA0F-0668046EE23B}" sibTransId="{6E5BB2E8-C60E-45A6-8703-434F469ECE11}"/>
    <dgm:cxn modelId="{B870222B-0E95-4FE6-9C20-4ED40C7D3A6A}" type="presOf" srcId="{DAD1C9E6-FAD3-47C3-B8FB-04C764464C29}" destId="{648AEBD6-AC80-4A10-A710-57859C1BCCD5}" srcOrd="0" destOrd="0" presId="urn:microsoft.com/office/officeart/2005/8/layout/vList5"/>
    <dgm:cxn modelId="{E38E422C-4F80-4BB0-BF27-657D7033C4CC}" type="presOf" srcId="{6644AF87-81EB-4ADE-A7A1-CDD3CD3E7D81}" destId="{14A9FA02-BF86-4705-B0EC-E727E4AF3F7C}" srcOrd="0" destOrd="0" presId="urn:microsoft.com/office/officeart/2005/8/layout/vList5"/>
    <dgm:cxn modelId="{1A913731-06BD-4C7B-9318-5AF4EA524583}" type="presOf" srcId="{3F70F1A0-9B42-4EFE-8FA4-C81FBFCED328}" destId="{59F362CD-5718-4BF2-83B5-F50E914A976D}" srcOrd="0" destOrd="0" presId="urn:microsoft.com/office/officeart/2005/8/layout/vList5"/>
    <dgm:cxn modelId="{2EF51232-940C-44C4-B6DF-5DA1D25B8119}" srcId="{DAD1C9E6-FAD3-47C3-B8FB-04C764464C29}" destId="{D044E51A-9B4A-43FC-A95E-9FB28B890A6A}" srcOrd="3" destOrd="0" parTransId="{C7B7CA0B-A671-4E08-8BE5-2CF3C5A2523E}" sibTransId="{194B84AC-1381-4AB6-8306-1CFADAF7634E}"/>
    <dgm:cxn modelId="{C96D5C4B-4754-457A-BF22-6B8C8995C3C0}" type="presOf" srcId="{08078E85-3288-49D4-9BD1-7D6C45ED0920}" destId="{75C6D2BB-6ED7-405C-B450-5E4D169A4AAB}" srcOrd="0" destOrd="0" presId="urn:microsoft.com/office/officeart/2005/8/layout/vList5"/>
    <dgm:cxn modelId="{C5C9E54E-EB5D-44CA-A35F-31DD18879DF2}" type="presOf" srcId="{D044E51A-9B4A-43FC-A95E-9FB28B890A6A}" destId="{42FCB565-2F8B-4597-8865-4F997E6E3587}" srcOrd="0" destOrd="0" presId="urn:microsoft.com/office/officeart/2005/8/layout/vList5"/>
    <dgm:cxn modelId="{88F5997C-28A9-4F27-BDC8-D3649C3B4F4D}" srcId="{DAD1C9E6-FAD3-47C3-B8FB-04C764464C29}" destId="{648755B1-6475-41E2-935A-81A237D57064}" srcOrd="6" destOrd="0" parTransId="{19D625DA-B837-4248-BD24-8FF04DF0458A}" sibTransId="{1101A902-A9BC-48CB-9A4C-F70D02DECEF6}"/>
    <dgm:cxn modelId="{4273C197-5E21-4E60-B128-58183F2D30FF}" srcId="{DAD1C9E6-FAD3-47C3-B8FB-04C764464C29}" destId="{B4E11199-5A33-42DC-9939-903A99FD9F5E}" srcOrd="8" destOrd="0" parTransId="{D02B4790-FC66-4523-8E55-A632FBE177DC}" sibTransId="{813AA932-C177-4E59-B659-F64B861CBC4A}"/>
    <dgm:cxn modelId="{83D31AA0-FD8E-4BA7-A822-F91717C9E22A}" type="presOf" srcId="{7C1A1444-16FD-4228-8A13-24F7854DC7DA}" destId="{D29DD54E-9758-43A1-BD48-9F6A5592C825}" srcOrd="0" destOrd="0" presId="urn:microsoft.com/office/officeart/2005/8/layout/vList5"/>
    <dgm:cxn modelId="{F6BAC6AB-0196-48E1-86C8-8745C833CF5C}" type="presOf" srcId="{88CA96D5-0ECD-450A-B2E5-3C85AB228455}" destId="{D298E97B-1053-435B-B844-E182EA94393F}" srcOrd="0" destOrd="0" presId="urn:microsoft.com/office/officeart/2005/8/layout/vList5"/>
    <dgm:cxn modelId="{69DA0CAC-004F-41C5-BF24-BBA415E55E5C}" srcId="{DAD1C9E6-FAD3-47C3-B8FB-04C764464C29}" destId="{08078E85-3288-49D4-9BD1-7D6C45ED0920}" srcOrd="4" destOrd="0" parTransId="{E0D8E988-FDC2-4570-988E-9F552F18BCB0}" sibTransId="{CAD28AFF-DED6-4033-BF34-63249E47D5DD}"/>
    <dgm:cxn modelId="{0536E1B1-DF47-4F81-85E7-F2D68367909F}" srcId="{DAD1C9E6-FAD3-47C3-B8FB-04C764464C29}" destId="{6644AF87-81EB-4ADE-A7A1-CDD3CD3E7D81}" srcOrd="5" destOrd="0" parTransId="{8DF13AD6-DC7B-46E4-AAC2-C96B7A827CA0}" sibTransId="{7BF5EA0E-4141-4445-8066-0C44ADEBB4EE}"/>
    <dgm:cxn modelId="{2CE9FECF-31A1-4521-B4B0-23516FB6B729}" srcId="{DAD1C9E6-FAD3-47C3-B8FB-04C764464C29}" destId="{7C1A1444-16FD-4228-8A13-24F7854DC7DA}" srcOrd="2" destOrd="0" parTransId="{3BCAE110-3A9B-4825-88F0-3675F2AC3AEC}" sibTransId="{D1415C7D-46D2-4404-9C65-5BB01F490124}"/>
    <dgm:cxn modelId="{8646AED7-6077-4205-B9DA-FF9A7BE34801}" srcId="{DAD1C9E6-FAD3-47C3-B8FB-04C764464C29}" destId="{06D37081-45DA-4624-ACBF-5B4AABDABFD5}" srcOrd="0" destOrd="0" parTransId="{7B24D107-9152-47B6-B3F5-973A6B7E94E3}" sibTransId="{E2B8EB05-6372-425D-8882-CF91A9505E26}"/>
    <dgm:cxn modelId="{539513D8-FE00-4250-9F0E-8B4E8214ECF4}" type="presOf" srcId="{06D37081-45DA-4624-ACBF-5B4AABDABFD5}" destId="{ABCF3414-B420-408B-98C2-635053F091F0}" srcOrd="0" destOrd="0" presId="urn:microsoft.com/office/officeart/2005/8/layout/vList5"/>
    <dgm:cxn modelId="{9BF4BBF3-2419-4830-A8CF-0B2CF38C854A}" srcId="{DAD1C9E6-FAD3-47C3-B8FB-04C764464C29}" destId="{88CA96D5-0ECD-450A-B2E5-3C85AB228455}" srcOrd="1" destOrd="0" parTransId="{56175E32-3F48-4FE4-A28A-69035E833E76}" sibTransId="{D3C95F2F-2B1B-4982-8A23-3472E3FEFD14}"/>
    <dgm:cxn modelId="{1245F497-2435-4130-8AAB-6CB780ED161F}" type="presParOf" srcId="{648AEBD6-AC80-4A10-A710-57859C1BCCD5}" destId="{1480FA36-C394-4ED5-BD41-CEE641BE8DAF}" srcOrd="0" destOrd="0" presId="urn:microsoft.com/office/officeart/2005/8/layout/vList5"/>
    <dgm:cxn modelId="{08DDC1AD-6E2B-469E-ACFD-E65F2C296D9F}" type="presParOf" srcId="{1480FA36-C394-4ED5-BD41-CEE641BE8DAF}" destId="{ABCF3414-B420-408B-98C2-635053F091F0}" srcOrd="0" destOrd="0" presId="urn:microsoft.com/office/officeart/2005/8/layout/vList5"/>
    <dgm:cxn modelId="{CD0BA894-5A9E-4EF9-A2FE-7BA6CE094899}" type="presParOf" srcId="{648AEBD6-AC80-4A10-A710-57859C1BCCD5}" destId="{DDEE0D5D-8AEA-4BC1-AB36-7481D9173B6E}" srcOrd="1" destOrd="0" presId="urn:microsoft.com/office/officeart/2005/8/layout/vList5"/>
    <dgm:cxn modelId="{83090045-A258-46D7-BD42-937C652D0EE3}" type="presParOf" srcId="{648AEBD6-AC80-4A10-A710-57859C1BCCD5}" destId="{7B9D258B-0171-43D6-87DE-ACF9EE617367}" srcOrd="2" destOrd="0" presId="urn:microsoft.com/office/officeart/2005/8/layout/vList5"/>
    <dgm:cxn modelId="{E229C812-9B72-416A-8BAF-DE773F235D98}" type="presParOf" srcId="{7B9D258B-0171-43D6-87DE-ACF9EE617367}" destId="{D298E97B-1053-435B-B844-E182EA94393F}" srcOrd="0" destOrd="0" presId="urn:microsoft.com/office/officeart/2005/8/layout/vList5"/>
    <dgm:cxn modelId="{E35D335C-16DE-42DE-9FB0-C7239482F10F}" type="presParOf" srcId="{648AEBD6-AC80-4A10-A710-57859C1BCCD5}" destId="{6B428D1D-610F-4BC8-AFD1-7AC26B51B150}" srcOrd="3" destOrd="0" presId="urn:microsoft.com/office/officeart/2005/8/layout/vList5"/>
    <dgm:cxn modelId="{6C6241FF-451B-458C-9E16-1057599B92AA}" type="presParOf" srcId="{648AEBD6-AC80-4A10-A710-57859C1BCCD5}" destId="{0765A09F-5826-4C45-AA9F-8EEDE92275AE}" srcOrd="4" destOrd="0" presId="urn:microsoft.com/office/officeart/2005/8/layout/vList5"/>
    <dgm:cxn modelId="{CA79B0F5-8BB3-4060-93DF-179697B1641B}" type="presParOf" srcId="{0765A09F-5826-4C45-AA9F-8EEDE92275AE}" destId="{D29DD54E-9758-43A1-BD48-9F6A5592C825}" srcOrd="0" destOrd="0" presId="urn:microsoft.com/office/officeart/2005/8/layout/vList5"/>
    <dgm:cxn modelId="{222CF1E4-EDF9-411E-8B2C-FB6EABCA0372}" type="presParOf" srcId="{648AEBD6-AC80-4A10-A710-57859C1BCCD5}" destId="{CD8589CD-EFC2-46A8-8BF9-68D24C4D6FA5}" srcOrd="5" destOrd="0" presId="urn:microsoft.com/office/officeart/2005/8/layout/vList5"/>
    <dgm:cxn modelId="{572FD12D-F841-45B9-A325-2BB449E0857C}" type="presParOf" srcId="{648AEBD6-AC80-4A10-A710-57859C1BCCD5}" destId="{2F0D98B7-D3A8-4955-9446-3C65ED446703}" srcOrd="6" destOrd="0" presId="urn:microsoft.com/office/officeart/2005/8/layout/vList5"/>
    <dgm:cxn modelId="{E780A611-9EA6-46C7-8122-7073179B6BAA}" type="presParOf" srcId="{2F0D98B7-D3A8-4955-9446-3C65ED446703}" destId="{42FCB565-2F8B-4597-8865-4F997E6E3587}" srcOrd="0" destOrd="0" presId="urn:microsoft.com/office/officeart/2005/8/layout/vList5"/>
    <dgm:cxn modelId="{4D6EBDD1-3AC2-4E78-BAF3-5397528F0F27}" type="presParOf" srcId="{648AEBD6-AC80-4A10-A710-57859C1BCCD5}" destId="{E7417E10-4266-4E80-B50B-D46C985CDD8D}" srcOrd="7" destOrd="0" presId="urn:microsoft.com/office/officeart/2005/8/layout/vList5"/>
    <dgm:cxn modelId="{4CC2CBB3-C453-4816-8338-2BE03B5BA0E1}" type="presParOf" srcId="{648AEBD6-AC80-4A10-A710-57859C1BCCD5}" destId="{92521C04-8CF3-4253-ACF9-C561B80FFBC1}" srcOrd="8" destOrd="0" presId="urn:microsoft.com/office/officeart/2005/8/layout/vList5"/>
    <dgm:cxn modelId="{35977E60-B8F8-4880-8B2A-288AD96B9DAC}" type="presParOf" srcId="{92521C04-8CF3-4253-ACF9-C561B80FFBC1}" destId="{75C6D2BB-6ED7-405C-B450-5E4D169A4AAB}" srcOrd="0" destOrd="0" presId="urn:microsoft.com/office/officeart/2005/8/layout/vList5"/>
    <dgm:cxn modelId="{C3299448-DC28-4739-AB1F-7C21D1F07224}" type="presParOf" srcId="{648AEBD6-AC80-4A10-A710-57859C1BCCD5}" destId="{87A5F714-D02C-46AF-B470-42B979D13B9A}" srcOrd="9" destOrd="0" presId="urn:microsoft.com/office/officeart/2005/8/layout/vList5"/>
    <dgm:cxn modelId="{8EFA35DB-54A7-4475-992F-7BD239415D61}" type="presParOf" srcId="{648AEBD6-AC80-4A10-A710-57859C1BCCD5}" destId="{26658E3B-A10D-4C7F-88D3-C93D185AED90}" srcOrd="10" destOrd="0" presId="urn:microsoft.com/office/officeart/2005/8/layout/vList5"/>
    <dgm:cxn modelId="{4D46AA17-4CF0-4459-B222-9DE4B6DD59B6}" type="presParOf" srcId="{26658E3B-A10D-4C7F-88D3-C93D185AED90}" destId="{14A9FA02-BF86-4705-B0EC-E727E4AF3F7C}" srcOrd="0" destOrd="0" presId="urn:microsoft.com/office/officeart/2005/8/layout/vList5"/>
    <dgm:cxn modelId="{57F539E1-3724-42A6-A15F-331E445CD582}" type="presParOf" srcId="{648AEBD6-AC80-4A10-A710-57859C1BCCD5}" destId="{A5953A82-1DFA-4845-B2EE-75B04246F1B6}" srcOrd="11" destOrd="0" presId="urn:microsoft.com/office/officeart/2005/8/layout/vList5"/>
    <dgm:cxn modelId="{FC728444-C331-451F-99CA-D173D41E38C1}" type="presParOf" srcId="{648AEBD6-AC80-4A10-A710-57859C1BCCD5}" destId="{6349597E-BB79-4C10-ABE3-E9B5D2FC4527}" srcOrd="12" destOrd="0" presId="urn:microsoft.com/office/officeart/2005/8/layout/vList5"/>
    <dgm:cxn modelId="{52452280-D434-402D-91E8-41C27E5DFE6A}" type="presParOf" srcId="{6349597E-BB79-4C10-ABE3-E9B5D2FC4527}" destId="{4EBC644D-07DE-4C58-B645-68DF093DA4FC}" srcOrd="0" destOrd="0" presId="urn:microsoft.com/office/officeart/2005/8/layout/vList5"/>
    <dgm:cxn modelId="{8943A9DA-8D21-4619-AD26-E796D196D2A9}" type="presParOf" srcId="{648AEBD6-AC80-4A10-A710-57859C1BCCD5}" destId="{F98477EF-73B4-4A79-BAAD-CA5ED9487C5C}" srcOrd="13" destOrd="0" presId="urn:microsoft.com/office/officeart/2005/8/layout/vList5"/>
    <dgm:cxn modelId="{6A5E832D-5CCB-4B1F-84CE-34E8A976DC38}" type="presParOf" srcId="{648AEBD6-AC80-4A10-A710-57859C1BCCD5}" destId="{A2D90FC9-264F-4CF2-9F24-AF3A2B12C6AA}" srcOrd="14" destOrd="0" presId="urn:microsoft.com/office/officeart/2005/8/layout/vList5"/>
    <dgm:cxn modelId="{7B808787-9E54-4156-9F1D-255B34EC778A}" type="presParOf" srcId="{A2D90FC9-264F-4CF2-9F24-AF3A2B12C6AA}" destId="{59F362CD-5718-4BF2-83B5-F50E914A976D}" srcOrd="0" destOrd="0" presId="urn:microsoft.com/office/officeart/2005/8/layout/vList5"/>
    <dgm:cxn modelId="{F0470796-BCF1-4036-9432-DF28CA1D1F89}" type="presParOf" srcId="{648AEBD6-AC80-4A10-A710-57859C1BCCD5}" destId="{03FEB88D-B1F9-4FDF-885A-CFBF8802A2DF}" srcOrd="15" destOrd="0" presId="urn:microsoft.com/office/officeart/2005/8/layout/vList5"/>
    <dgm:cxn modelId="{CBA4F4BF-A2B3-4AD5-B450-6B16133FE9CE}" type="presParOf" srcId="{648AEBD6-AC80-4A10-A710-57859C1BCCD5}" destId="{941BBBF8-BBDE-48A3-A9D0-BBD046A846EB}" srcOrd="16" destOrd="0" presId="urn:microsoft.com/office/officeart/2005/8/layout/vList5"/>
    <dgm:cxn modelId="{C62F0D18-85A0-4ED3-827F-E5FB4B78DE04}" type="presParOf" srcId="{941BBBF8-BBDE-48A3-A9D0-BBD046A846EB}" destId="{048554EF-614D-429F-841D-BF474718886B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CF3414-B420-408B-98C2-635053F091F0}">
      <dsp:nvSpPr>
        <dsp:cNvPr id="0" name=""/>
        <dsp:cNvSpPr/>
      </dsp:nvSpPr>
      <dsp:spPr>
        <a:xfrm>
          <a:off x="3384498" y="1172"/>
          <a:ext cx="3807560" cy="44394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Introduction</a:t>
          </a:r>
        </a:p>
      </dsp:txBody>
      <dsp:txXfrm>
        <a:off x="3406170" y="22844"/>
        <a:ext cx="3764216" cy="400605"/>
      </dsp:txXfrm>
    </dsp:sp>
    <dsp:sp modelId="{D298E97B-1053-435B-B844-E182EA94393F}">
      <dsp:nvSpPr>
        <dsp:cNvPr id="0" name=""/>
        <dsp:cNvSpPr/>
      </dsp:nvSpPr>
      <dsp:spPr>
        <a:xfrm>
          <a:off x="3384498" y="467319"/>
          <a:ext cx="3807560" cy="443949"/>
        </a:xfrm>
        <a:prstGeom prst="roundRect">
          <a:avLst/>
        </a:prstGeom>
        <a:solidFill>
          <a:schemeClr val="accent2">
            <a:hueOff val="-179198"/>
            <a:satOff val="-4318"/>
            <a:lumOff val="-2598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POLAR Framework</a:t>
          </a:r>
        </a:p>
      </dsp:txBody>
      <dsp:txXfrm>
        <a:off x="3406170" y="488991"/>
        <a:ext cx="3764216" cy="400605"/>
      </dsp:txXfrm>
    </dsp:sp>
    <dsp:sp modelId="{D29DD54E-9758-43A1-BD48-9F6A5592C825}">
      <dsp:nvSpPr>
        <dsp:cNvPr id="0" name=""/>
        <dsp:cNvSpPr/>
      </dsp:nvSpPr>
      <dsp:spPr>
        <a:xfrm>
          <a:off x="3384498" y="933465"/>
          <a:ext cx="3807560" cy="443949"/>
        </a:xfrm>
        <a:prstGeom prst="roundRect">
          <a:avLst/>
        </a:prstGeom>
        <a:solidFill>
          <a:schemeClr val="accent2">
            <a:hueOff val="-358396"/>
            <a:satOff val="-8636"/>
            <a:lumOff val="-5196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Objectives</a:t>
          </a:r>
        </a:p>
      </dsp:txBody>
      <dsp:txXfrm>
        <a:off x="3406170" y="955137"/>
        <a:ext cx="3764216" cy="400605"/>
      </dsp:txXfrm>
    </dsp:sp>
    <dsp:sp modelId="{42FCB565-2F8B-4597-8865-4F997E6E3587}">
      <dsp:nvSpPr>
        <dsp:cNvPr id="0" name=""/>
        <dsp:cNvSpPr/>
      </dsp:nvSpPr>
      <dsp:spPr>
        <a:xfrm>
          <a:off x="3384498" y="1399612"/>
          <a:ext cx="3807560" cy="443949"/>
        </a:xfrm>
        <a:prstGeom prst="roundRect">
          <a:avLst/>
        </a:prstGeom>
        <a:solidFill>
          <a:schemeClr val="accent2">
            <a:hueOff val="-537593"/>
            <a:satOff val="-12954"/>
            <a:lumOff val="-7794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Large Language Models</a:t>
          </a:r>
        </a:p>
      </dsp:txBody>
      <dsp:txXfrm>
        <a:off x="3406170" y="1421284"/>
        <a:ext cx="3764216" cy="400605"/>
      </dsp:txXfrm>
    </dsp:sp>
    <dsp:sp modelId="{75C6D2BB-6ED7-405C-B450-5E4D169A4AAB}">
      <dsp:nvSpPr>
        <dsp:cNvPr id="0" name=""/>
        <dsp:cNvSpPr/>
      </dsp:nvSpPr>
      <dsp:spPr>
        <a:xfrm>
          <a:off x="3384498" y="1865759"/>
          <a:ext cx="3807560" cy="443949"/>
        </a:xfrm>
        <a:prstGeom prst="roundRect">
          <a:avLst/>
        </a:prstGeom>
        <a:solidFill>
          <a:schemeClr val="accent2">
            <a:hueOff val="-716791"/>
            <a:satOff val="-17272"/>
            <a:lumOff val="-10393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LLM Integration</a:t>
          </a:r>
        </a:p>
      </dsp:txBody>
      <dsp:txXfrm>
        <a:off x="3406170" y="1887431"/>
        <a:ext cx="3764216" cy="400605"/>
      </dsp:txXfrm>
    </dsp:sp>
    <dsp:sp modelId="{14A9FA02-BF86-4705-B0EC-E727E4AF3F7C}">
      <dsp:nvSpPr>
        <dsp:cNvPr id="0" name=""/>
        <dsp:cNvSpPr/>
      </dsp:nvSpPr>
      <dsp:spPr>
        <a:xfrm>
          <a:off x="3384498" y="2331906"/>
          <a:ext cx="3807560" cy="443949"/>
        </a:xfrm>
        <a:prstGeom prst="roundRect">
          <a:avLst/>
        </a:prstGeom>
        <a:solidFill>
          <a:schemeClr val="accent2">
            <a:hueOff val="-895989"/>
            <a:satOff val="-21590"/>
            <a:lumOff val="-12991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Evaluation</a:t>
          </a:r>
        </a:p>
      </dsp:txBody>
      <dsp:txXfrm>
        <a:off x="3406170" y="2353578"/>
        <a:ext cx="3764216" cy="400605"/>
      </dsp:txXfrm>
    </dsp:sp>
    <dsp:sp modelId="{4EBC644D-07DE-4C58-B645-68DF093DA4FC}">
      <dsp:nvSpPr>
        <dsp:cNvPr id="0" name=""/>
        <dsp:cNvSpPr/>
      </dsp:nvSpPr>
      <dsp:spPr>
        <a:xfrm>
          <a:off x="3384498" y="2798052"/>
          <a:ext cx="3807560" cy="443949"/>
        </a:xfrm>
        <a:prstGeom prst="roundRect">
          <a:avLst/>
        </a:prstGeom>
        <a:solidFill>
          <a:schemeClr val="accent2">
            <a:hueOff val="-1075187"/>
            <a:satOff val="-25908"/>
            <a:lumOff val="-15589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Results &amp; Analysis</a:t>
          </a:r>
        </a:p>
      </dsp:txBody>
      <dsp:txXfrm>
        <a:off x="3406170" y="2819724"/>
        <a:ext cx="3764216" cy="400605"/>
      </dsp:txXfrm>
    </dsp:sp>
    <dsp:sp modelId="{59F362CD-5718-4BF2-83B5-F50E914A976D}">
      <dsp:nvSpPr>
        <dsp:cNvPr id="0" name=""/>
        <dsp:cNvSpPr/>
      </dsp:nvSpPr>
      <dsp:spPr>
        <a:xfrm>
          <a:off x="3384498" y="3264199"/>
          <a:ext cx="3807560" cy="443949"/>
        </a:xfrm>
        <a:prstGeom prst="roundRect">
          <a:avLst/>
        </a:prstGeom>
        <a:solidFill>
          <a:schemeClr val="accent2">
            <a:hueOff val="-1254384"/>
            <a:satOff val="-30226"/>
            <a:lumOff val="-18187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Conclusion</a:t>
          </a:r>
        </a:p>
      </dsp:txBody>
      <dsp:txXfrm>
        <a:off x="3406170" y="3285871"/>
        <a:ext cx="3764216" cy="400605"/>
      </dsp:txXfrm>
    </dsp:sp>
    <dsp:sp modelId="{048554EF-614D-429F-841D-BF474718886B}">
      <dsp:nvSpPr>
        <dsp:cNvPr id="0" name=""/>
        <dsp:cNvSpPr/>
      </dsp:nvSpPr>
      <dsp:spPr>
        <a:xfrm>
          <a:off x="3384498" y="3730346"/>
          <a:ext cx="3807560" cy="443949"/>
        </a:xfrm>
        <a:prstGeom prst="roundRect">
          <a:avLst/>
        </a:prstGeom>
        <a:solidFill>
          <a:schemeClr val="accent2">
            <a:hueOff val="-1433582"/>
            <a:satOff val="-34544"/>
            <a:lumOff val="-20785"/>
            <a:alphaOff val="0"/>
          </a:schemeClr>
        </a:solidFill>
        <a:ln w="2540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Future Work</a:t>
          </a:r>
        </a:p>
      </dsp:txBody>
      <dsp:txXfrm>
        <a:off x="3406170" y="3752018"/>
        <a:ext cx="3764216" cy="4006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08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033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69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604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066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52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2489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66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62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316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74160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9249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18253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1737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0424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814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F9B36D-3B2C-4E81-92F7-987D475A4FBF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62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1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A0ED4-C675-5826-7356-29D8AE1E5D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047" y="1173302"/>
            <a:ext cx="9144000" cy="2387600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A Hybrid Approach to Polarization Detection: Replacing Traditional NLP tasks with Large Language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8DCA1F-637A-C9DF-C326-2F296C6636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7823" y="4423662"/>
            <a:ext cx="9144000" cy="2030926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accent6"/>
                </a:solidFill>
              </a:rPr>
              <a:t>Supervisor: </a:t>
            </a:r>
          </a:p>
          <a:p>
            <a:pPr algn="ctr"/>
            <a:r>
              <a:rPr lang="en-US" dirty="0">
                <a:solidFill>
                  <a:schemeClr val="accent6"/>
                </a:solidFill>
              </a:rPr>
              <a:t>Marios </a:t>
            </a:r>
            <a:r>
              <a:rPr lang="en-US" dirty="0" err="1">
                <a:solidFill>
                  <a:schemeClr val="accent6"/>
                </a:solidFill>
              </a:rPr>
              <a:t>Dikaiakos</a:t>
            </a:r>
            <a:endParaRPr lang="en-US" dirty="0">
              <a:solidFill>
                <a:schemeClr val="accent6"/>
              </a:solidFill>
            </a:endParaRPr>
          </a:p>
          <a:p>
            <a:pPr algn="ctr"/>
            <a:endParaRPr lang="en-US" dirty="0">
              <a:solidFill>
                <a:schemeClr val="accent6"/>
              </a:solidFill>
            </a:endParaRPr>
          </a:p>
          <a:p>
            <a:pPr algn="ctr"/>
            <a:r>
              <a:rPr lang="en-US" dirty="0">
                <a:solidFill>
                  <a:schemeClr val="accent6"/>
                </a:solidFill>
              </a:rPr>
              <a:t>Doctoral Student Supervisor: </a:t>
            </a:r>
          </a:p>
          <a:p>
            <a:pPr algn="ctr"/>
            <a:r>
              <a:rPr lang="en-US" dirty="0">
                <a:solidFill>
                  <a:schemeClr val="accent6"/>
                </a:solidFill>
              </a:rPr>
              <a:t>Demetris </a:t>
            </a:r>
            <a:r>
              <a:rPr lang="en-US" dirty="0" err="1">
                <a:solidFill>
                  <a:schemeClr val="accent6"/>
                </a:solidFill>
              </a:rPr>
              <a:t>Paschalides</a:t>
            </a:r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2559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E9609-7661-4718-DC5B-69B792C0A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9287" y="798881"/>
            <a:ext cx="8673427" cy="104894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Table Of Contents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E6951C9-B560-3CA9-C1DD-386B5FA64B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07970856"/>
              </p:ext>
            </p:extLst>
          </p:nvPr>
        </p:nvGraphicFramePr>
        <p:xfrm>
          <a:off x="807722" y="1990976"/>
          <a:ext cx="10576558" cy="41754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7325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E09B7E24-271E-4A3A-9D65-EE95ED972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5C59434-03B2-4F06-8362-A01DD785E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FDF3815-C9F7-4B9E-A371-DE71C4E9D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23">
              <a:extLst>
                <a:ext uri="{FF2B5EF4-FFF2-40B4-BE49-F238E27FC236}">
                  <a16:creationId xmlns:a16="http://schemas.microsoft.com/office/drawing/2014/main" id="{34C30A41-6D9F-42F2-BE4A-B6D2E4400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Rectangle 25">
              <a:extLst>
                <a:ext uri="{FF2B5EF4-FFF2-40B4-BE49-F238E27FC236}">
                  <a16:creationId xmlns:a16="http://schemas.microsoft.com/office/drawing/2014/main" id="{8577AE11-EC00-4E67-9DDD-624E9DA123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406A24DE-7A6F-4459-9A79-712243D200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7">
              <a:extLst>
                <a:ext uri="{FF2B5EF4-FFF2-40B4-BE49-F238E27FC236}">
                  <a16:creationId xmlns:a16="http://schemas.microsoft.com/office/drawing/2014/main" id="{BFEBE697-7D77-4AC8-8E68-0483B47DF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49FC7B15-C721-4A23-8F6A-2CFA77C614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9">
              <a:extLst>
                <a:ext uri="{FF2B5EF4-FFF2-40B4-BE49-F238E27FC236}">
                  <a16:creationId xmlns:a16="http://schemas.microsoft.com/office/drawing/2014/main" id="{164E8ACB-FC50-451D-AF0A-879ABC6EA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D5F354A0-F0C9-4254-A913-DD68E78161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9B01B525-8D81-44A3-BC1F-C711B89D23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28BCEF3-EF23-09C2-AA4D-56313267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337" y="1265314"/>
            <a:ext cx="4299666" cy="324913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/>
              <a:t>Introduction</a:t>
            </a:r>
            <a:endParaRPr lang="en-US" sz="540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ADC5C86B-28CE-4597-97B7-4C09E20141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174" y="1270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" name="Graphic 5" descr="Books">
            <a:extLst>
              <a:ext uri="{FF2B5EF4-FFF2-40B4-BE49-F238E27FC236}">
                <a16:creationId xmlns:a16="http://schemas.microsoft.com/office/drawing/2014/main" id="{28C6E445-A572-2499-CA75-7346B3725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8604" y="1550139"/>
            <a:ext cx="3765692" cy="376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67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ECCDC-6CAD-BFDC-A6C0-620FCE961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impact of Polarization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40A54-768E-C0E8-80A1-D6274B548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 descr="Algerian Boxer Imane Khelif Wins Olympic Gold After Gender Uproar">
            <a:extLst>
              <a:ext uri="{FF2B5EF4-FFF2-40B4-BE49-F238E27FC236}">
                <a16:creationId xmlns:a16="http://schemas.microsoft.com/office/drawing/2014/main" id="{DDA39497-601C-0A5B-2F75-7434E8E06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2965822"/>
            <a:ext cx="5838265" cy="389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ited Kingdom Sales Strategies Post-Brexit | Allego">
            <a:extLst>
              <a:ext uri="{FF2B5EF4-FFF2-40B4-BE49-F238E27FC236}">
                <a16:creationId xmlns:a16="http://schemas.microsoft.com/office/drawing/2014/main" id="{8204503C-BCA5-BC7B-BEED-07CA0397BD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103" y="-512686"/>
            <a:ext cx="8073452" cy="4541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ut out of Joe Biden and Donald Trump facing each other with shape of donkey and elephant head in background.">
            <a:extLst>
              <a:ext uri="{FF2B5EF4-FFF2-40B4-BE49-F238E27FC236}">
                <a16:creationId xmlns:a16="http://schemas.microsoft.com/office/drawing/2014/main" id="{6178AAB8-AE21-5122-B732-EFCAE69367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7109" y="2238374"/>
            <a:ext cx="8210550" cy="4619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1062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36F74-715D-1F26-DFE1-CE35DCE36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POLAR Framework</a:t>
            </a:r>
          </a:p>
        </p:txBody>
      </p:sp>
      <p:pic>
        <p:nvPicPr>
          <p:cNvPr id="4" name="Content Placeholder 3" descr="Diagram&#10;&#10;Description automatically generated">
            <a:extLst>
              <a:ext uri="{FF2B5EF4-FFF2-40B4-BE49-F238E27FC236}">
                <a16:creationId xmlns:a16="http://schemas.microsoft.com/office/drawing/2014/main" id="{ED2E6310-FF4E-9247-E371-99096C4E42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46001" y="2444560"/>
            <a:ext cx="11496821" cy="250055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56389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F5275-3DDF-5872-B175-DE65F33DF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POLAR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4ACB6-3862-D499-9FB7-3D0D9B93BA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135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167624-3D20-980D-ABF6-0F2D1EABF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9DB96-FB40-24D7-E66B-8730DE1DA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Address the limitations of the POLAR Pipeline</a:t>
            </a:r>
          </a:p>
          <a:p>
            <a:pPr>
              <a:lnSpc>
                <a:spcPct val="90000"/>
              </a:lnSpc>
            </a:pPr>
            <a:endParaRPr lang="en-US" sz="1700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Integrate LLMs into the POLAR Pipeline for Attitude Detection</a:t>
            </a:r>
          </a:p>
          <a:p>
            <a:pPr marL="0" indent="0">
              <a:lnSpc>
                <a:spcPct val="90000"/>
              </a:lnSpc>
              <a:buNone/>
            </a:pPr>
            <a:endParaRPr lang="en-US" sz="1700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Evaluate the Effectiveness of LLMs in detecting Polarization.</a:t>
            </a:r>
          </a:p>
          <a:p>
            <a:pPr>
              <a:lnSpc>
                <a:spcPct val="90000"/>
              </a:lnSpc>
            </a:pPr>
            <a:endParaRPr lang="en-US" sz="1700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Fine-Tune Mistral to replicate GPT locally</a:t>
            </a:r>
          </a:p>
          <a:p>
            <a:pPr>
              <a:lnSpc>
                <a:spcPct val="90000"/>
              </a:lnSpc>
            </a:pPr>
            <a:endParaRPr lang="en-US" sz="1700" dirty="0">
              <a:solidFill>
                <a:schemeClr val="bg1"/>
              </a:solidFill>
            </a:endParaRPr>
          </a:p>
        </p:txBody>
      </p:sp>
      <p:pic>
        <p:nvPicPr>
          <p:cNvPr id="4" name="Picture 3" descr="A diagram of a company&#10;&#10;AI-generated content may be incorrect.">
            <a:extLst>
              <a:ext uri="{FF2B5EF4-FFF2-40B4-BE49-F238E27FC236}">
                <a16:creationId xmlns:a16="http://schemas.microsoft.com/office/drawing/2014/main" id="{DE3A7A3B-CC24-009F-43A2-3B34FDBF0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31310" y="76117"/>
            <a:ext cx="3805518" cy="6705760"/>
          </a:xfrm>
          <a:prstGeom prst="rect">
            <a:avLst/>
          </a:prstGeom>
          <a:noFill/>
        </p:spPr>
      </p:pic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627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B1E62-0B5A-0418-F7F0-B9413E40D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6047" y="609600"/>
            <a:ext cx="6487955" cy="1320800"/>
          </a:xfrm>
        </p:spPr>
        <p:txBody>
          <a:bodyPr>
            <a:normAutofit/>
          </a:bodyPr>
          <a:lstStyle/>
          <a:p>
            <a:r>
              <a:rPr lang="en-US" dirty="0"/>
              <a:t>Large Language Models (LLMs)</a:t>
            </a:r>
          </a:p>
        </p:txBody>
      </p:sp>
      <p:pic>
        <p:nvPicPr>
          <p:cNvPr id="5" name="Picture 4" descr="A close up of a circuit board&#10;&#10;AI-generated content may be incorrect.">
            <a:extLst>
              <a:ext uri="{FF2B5EF4-FFF2-40B4-BE49-F238E27FC236}">
                <a16:creationId xmlns:a16="http://schemas.microsoft.com/office/drawing/2014/main" id="{757019C5-635C-207F-2C71-F6445BC453A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</a:blip>
          <a:srcRect l="44469" r="33166" b="-1"/>
          <a:stretch>
            <a:fillRect/>
          </a:stretch>
        </p:blipFill>
        <p:spPr>
          <a:xfrm>
            <a:off x="20" y="10"/>
            <a:ext cx="2734036" cy="6876278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842596" y="6858000"/>
                </a:lnTo>
                <a:lnTo>
                  <a:pt x="0" y="1191846"/>
                </a:lnTo>
                <a:close/>
              </a:path>
            </a:pathLst>
          </a:cu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58CB4BA4-5207-43FB-9FA5-62223EF715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1191846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004BDB-B98B-7644-40F2-561A1769E2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86047" y="2160589"/>
            <a:ext cx="6487955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900" b="1" dirty="0"/>
              <a:t>LLMs attempted for this thesis include: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GPT-3.5-turbo</a:t>
            </a:r>
          </a:p>
          <a:p>
            <a:endParaRPr lang="en-US" dirty="0"/>
          </a:p>
          <a:p>
            <a:r>
              <a:rPr lang="en-US" dirty="0"/>
              <a:t>A Fine-Tuned model of Mistral-7B</a:t>
            </a:r>
          </a:p>
          <a:p>
            <a:endParaRPr lang="en-US" dirty="0"/>
          </a:p>
          <a:p>
            <a:r>
              <a:rPr lang="en-US" dirty="0"/>
              <a:t>Deepseek-R1-8B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1304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727EA-8585-6483-57E5-03C97B16E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8527B3-7892-B612-1436-6D2FE20AD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221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8884A-5BAC-2750-7802-57CB045C9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5DA6D-F868-2D25-50F5-7347A3507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03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1" name="Rectangle 3080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83" name="Isosceles Triangle 3082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3DE94E-EA81-18C7-7CAF-2CA97FC87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LLM Integration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BC398-1D90-C7A9-66AF-D8159CD3D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Utilizing LLMs, Attempt to gather all the data computed by the NLP POLAR tasks and Calculate Sentiment.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Inject the information in the POLAR Pipeline.</a:t>
            </a:r>
          </a:p>
        </p:txBody>
      </p:sp>
      <p:pic>
        <p:nvPicPr>
          <p:cNvPr id="3074" name="Picture 2" descr="A diagram of a data flow&#10;&#10;AI-generated content may be incorrect.">
            <a:extLst>
              <a:ext uri="{FF2B5EF4-FFF2-40B4-BE49-F238E27FC236}">
                <a16:creationId xmlns:a16="http://schemas.microsoft.com/office/drawing/2014/main" id="{A8E63313-8CFA-A8E7-B3FF-7A37624D7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684778" y="282388"/>
            <a:ext cx="6402326" cy="6338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5" name="Isosceles Triangle 3084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2548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ABB2-247D-5479-09C0-74BC762E0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9123" y="609600"/>
            <a:ext cx="4924878" cy="1320800"/>
          </a:xfrm>
        </p:spPr>
        <p:txBody>
          <a:bodyPr anchor="ctr">
            <a:normAutofit/>
          </a:bodyPr>
          <a:lstStyle/>
          <a:p>
            <a:r>
              <a:rPr lang="en-US" dirty="0"/>
              <a:t>Article Gathering</a:t>
            </a:r>
          </a:p>
        </p:txBody>
      </p:sp>
      <p:pic>
        <p:nvPicPr>
          <p:cNvPr id="5124" name="Picture 4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5ED08384-11B8-1A92-AF68-759D180BB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2013" y="609600"/>
            <a:ext cx="3268552" cy="5915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B708C-33AD-85DA-2DE1-E0C87AC4D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9123" y="2160590"/>
            <a:ext cx="4921876" cy="3739698"/>
          </a:xfrm>
        </p:spPr>
        <p:txBody>
          <a:bodyPr>
            <a:normAutofit/>
          </a:bodyPr>
          <a:lstStyle/>
          <a:p>
            <a:r>
              <a:rPr lang="en-US" dirty="0"/>
              <a:t>Utilizes POLAR’s News Corpus Collector to gather Articles from GDELT</a:t>
            </a:r>
          </a:p>
          <a:p>
            <a:endParaRPr lang="en-US" dirty="0"/>
          </a:p>
          <a:p>
            <a:r>
              <a:rPr lang="en-US" dirty="0"/>
              <a:t>Articles Split to fit Window size of LLMs</a:t>
            </a:r>
          </a:p>
          <a:p>
            <a:endParaRPr lang="en-US" dirty="0"/>
          </a:p>
          <a:p>
            <a:r>
              <a:rPr lang="en-US" dirty="0"/>
              <a:t>Uses </a:t>
            </a:r>
            <a:r>
              <a:rPr lang="en-US" dirty="0" err="1"/>
              <a:t>LangChain</a:t>
            </a:r>
            <a:r>
              <a:rPr lang="en-US" dirty="0"/>
              <a:t> to Semantically split Articles</a:t>
            </a:r>
          </a:p>
        </p:txBody>
      </p:sp>
    </p:spTree>
    <p:extLst>
      <p:ext uri="{BB962C8B-B14F-4D97-AF65-F5344CB8AC3E}">
        <p14:creationId xmlns:p14="http://schemas.microsoft.com/office/powerpoint/2010/main" val="2441091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AB781-1410-D816-1AAA-BD908FAC1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 Communicator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B09F0-15A4-5A77-C305-087386858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3549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A3E6C-D165-AD8D-9A22-8CF2B6997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6" y="609600"/>
            <a:ext cx="3729076" cy="1320800"/>
          </a:xfrm>
        </p:spPr>
        <p:txBody>
          <a:bodyPr anchor="ctr">
            <a:normAutofit/>
          </a:bodyPr>
          <a:lstStyle/>
          <a:p>
            <a:r>
              <a:rPr lang="en-US" dirty="0"/>
              <a:t>LLM Authenticator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BDFB5-BFFC-2AB2-E6E0-8F9F4FE87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67" y="2160589"/>
            <a:ext cx="4303692" cy="39712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Important step, validating LLM Responses</a:t>
            </a:r>
          </a:p>
          <a:p>
            <a:endParaRPr lang="en-US" dirty="0"/>
          </a:p>
          <a:p>
            <a:r>
              <a:rPr lang="en-US" dirty="0"/>
              <a:t>Check for Malformed Structure</a:t>
            </a:r>
          </a:p>
          <a:p>
            <a:endParaRPr lang="en-US" dirty="0"/>
          </a:p>
          <a:p>
            <a:r>
              <a:rPr lang="en-US" dirty="0"/>
              <a:t>Remove Comments</a:t>
            </a:r>
          </a:p>
          <a:p>
            <a:endParaRPr lang="en-US" dirty="0"/>
          </a:p>
          <a:p>
            <a:r>
              <a:rPr lang="en-US" dirty="0"/>
              <a:t>Check Formatting</a:t>
            </a:r>
          </a:p>
          <a:p>
            <a:endParaRPr lang="en-US" dirty="0"/>
          </a:p>
          <a:p>
            <a:r>
              <a:rPr lang="en-US" dirty="0"/>
              <a:t>Normalize Names and Topics</a:t>
            </a:r>
          </a:p>
        </p:txBody>
      </p:sp>
      <p:pic>
        <p:nvPicPr>
          <p:cNvPr id="6146" name="Picture 2" descr="A diagram of a flowchart&#10;&#10;AI-generated content may be incorrect.">
            <a:extLst>
              <a:ext uri="{FF2B5EF4-FFF2-40B4-BE49-F238E27FC236}">
                <a16:creationId xmlns:a16="http://schemas.microsoft.com/office/drawing/2014/main" id="{AB26A101-485A-FB59-4FD9-12EFCF001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36801" y="632144"/>
            <a:ext cx="3123105" cy="5601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9259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3BE68-7B98-0E53-60DD-88069D843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98972-F8D5-8164-14F3-5916AC4B1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46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E6EA84-9251-5466-02A8-977F47E1F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D7848-1799-DE13-C95C-D75EDB5B4F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/>
          </a:bodyPr>
          <a:lstStyle/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" name="Picture 3" descr="A diagram of a business process&#10;&#10;AI-generated content may be incorrect.">
            <a:extLst>
              <a:ext uri="{FF2B5EF4-FFF2-40B4-BE49-F238E27FC236}">
                <a16:creationId xmlns:a16="http://schemas.microsoft.com/office/drawing/2014/main" id="{EDD1E5AF-85F2-31E4-B2F6-0FD95FDB2E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10082" y="118660"/>
            <a:ext cx="3845859" cy="6490902"/>
          </a:xfrm>
          <a:prstGeom prst="rect">
            <a:avLst/>
          </a:prstGeom>
          <a:noFill/>
        </p:spPr>
      </p:pic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87070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BE5ED-8BDC-055F-2AFA-017B2CB72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B712A-8B35-E885-A175-EEEDC3FB40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0733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Magnifying glass showing decling performance">
            <a:extLst>
              <a:ext uri="{FF2B5EF4-FFF2-40B4-BE49-F238E27FC236}">
                <a16:creationId xmlns:a16="http://schemas.microsoft.com/office/drawing/2014/main" id="{9793F383-A20E-BFBC-0FAB-8CF802C3A1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891" b="-2"/>
          <a:stretch>
            <a:fillRect/>
          </a:stretch>
        </p:blipFill>
        <p:spPr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42BB82-9097-C5EB-B116-FEBCD6AC9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>
            <a:normAutofit/>
          </a:bodyPr>
          <a:lstStyle/>
          <a:p>
            <a:r>
              <a:rPr lang="en-US" dirty="0"/>
              <a:t>Results &amp;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97D62-F0FF-CD4B-6B1C-4693C17A0E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4763557" cy="3880773"/>
          </a:xfrm>
        </p:spPr>
        <p:txBody>
          <a:bodyPr>
            <a:normAutofit/>
          </a:bodyPr>
          <a:lstStyle/>
          <a:p>
            <a:r>
              <a:rPr lang="en-US" dirty="0"/>
              <a:t>Mistral Fine-Tuning Evaluation</a:t>
            </a:r>
          </a:p>
          <a:p>
            <a:endParaRPr lang="en-US" dirty="0"/>
          </a:p>
          <a:p>
            <a:r>
              <a:rPr lang="en-US" dirty="0"/>
              <a:t>POLAR Compared to LLM Hybrid approach for Attitude assignment and SAG Comparisons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3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2975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73320-67BF-C312-5F78-C8D65431B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581" y="515471"/>
            <a:ext cx="4351866" cy="1320800"/>
          </a:xfrm>
        </p:spPr>
        <p:txBody>
          <a:bodyPr/>
          <a:lstStyle/>
          <a:p>
            <a:r>
              <a:rPr lang="en-US" dirty="0"/>
              <a:t>Mistral Attitudes 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8A599-22CD-4E60-DF70-6C1BB2E783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3047501" cy="3880773"/>
          </a:xfrm>
        </p:spPr>
        <p:txBody>
          <a:bodyPr/>
          <a:lstStyle/>
          <a:p>
            <a:r>
              <a:rPr lang="en-US" dirty="0"/>
              <a:t>Incredibly similar to GPT’s outputs</a:t>
            </a:r>
          </a:p>
          <a:p>
            <a:endParaRPr lang="en-US" dirty="0"/>
          </a:p>
          <a:p>
            <a:r>
              <a:rPr lang="en-US" dirty="0"/>
              <a:t>High Recall with more Overall predictions than GPT</a:t>
            </a:r>
          </a:p>
          <a:p>
            <a:endParaRPr lang="en-US" dirty="0"/>
          </a:p>
          <a:p>
            <a:r>
              <a:rPr lang="en-US" dirty="0"/>
              <a:t>Extremely viable replacement</a:t>
            </a:r>
          </a:p>
        </p:txBody>
      </p:sp>
      <p:graphicFrame>
        <p:nvGraphicFramePr>
          <p:cNvPr id="4" name="Content Placeholder 7">
            <a:extLst>
              <a:ext uri="{FF2B5EF4-FFF2-40B4-BE49-F238E27FC236}">
                <a16:creationId xmlns:a16="http://schemas.microsoft.com/office/drawing/2014/main" id="{D81876EE-A4AC-9A46-F4CA-7597C2A2F7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6821894"/>
              </p:ext>
            </p:extLst>
          </p:nvPr>
        </p:nvGraphicFramePr>
        <p:xfrm>
          <a:off x="3864287" y="789744"/>
          <a:ext cx="8233584" cy="5897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4528">
                  <a:extLst>
                    <a:ext uri="{9D8B030D-6E8A-4147-A177-3AD203B41FA5}">
                      <a16:colId xmlns:a16="http://schemas.microsoft.com/office/drawing/2014/main" val="205828266"/>
                    </a:ext>
                  </a:extLst>
                </a:gridCol>
                <a:gridCol w="2744528">
                  <a:extLst>
                    <a:ext uri="{9D8B030D-6E8A-4147-A177-3AD203B41FA5}">
                      <a16:colId xmlns:a16="http://schemas.microsoft.com/office/drawing/2014/main" val="416087320"/>
                    </a:ext>
                  </a:extLst>
                </a:gridCol>
                <a:gridCol w="2744528">
                  <a:extLst>
                    <a:ext uri="{9D8B030D-6E8A-4147-A177-3AD203B41FA5}">
                      <a16:colId xmlns:a16="http://schemas.microsoft.com/office/drawing/2014/main" val="2419119124"/>
                    </a:ext>
                  </a:extLst>
                </a:gridCol>
              </a:tblGrid>
              <a:tr h="355102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Topical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716059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Pair  Matching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1290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0.8725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0.8658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3152451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0.9418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0.9365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5195316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0.9059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0.8998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3365201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True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664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826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3541643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5896474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Negatives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41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56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89409510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Attitude Prediction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88331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0.9771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0.9750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67162684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True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683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820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07478366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Negatives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16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21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7040988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Justification Overlap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79624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Overlap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0.8581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0.8785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83241780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Matched Justifications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798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477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3541691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Total Justifications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930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543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19795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0521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C18CA-9F6E-90F3-9FEB-54650C399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Mistral Usage Conclusion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DDFA785-DAD1-28E7-2C8F-1D408FFA55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541324"/>
              </p:ext>
            </p:extLst>
          </p:nvPr>
        </p:nvGraphicFramePr>
        <p:xfrm>
          <a:off x="911668" y="2158501"/>
          <a:ext cx="812799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6059007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07098374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6259600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Attribute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GPT-3.5 (API)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Mistral-7B (Fine-Tuned)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99486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Hosting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Cloud (OpenAI)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Local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32436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Internet Dependency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Required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None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702075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Prompt Length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Long (1200+ characters)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Minimal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77005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Latency per Request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~15–35 seconds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~1–2 minutes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10389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Multithread-ability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Minimal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None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91012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Cost per Use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Usage-based fees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Local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26017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Fine-tune Time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N/A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~3 hours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18906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System Requirements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N/A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Nvidia GPU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233874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366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1B546-BFA1-AA3F-5C4D-4DD9A5309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574592"/>
            <a:ext cx="3768660" cy="1320800"/>
          </a:xfrm>
        </p:spPr>
        <p:txBody>
          <a:bodyPr>
            <a:normAutofit fontScale="90000"/>
          </a:bodyPr>
          <a:lstStyle/>
          <a:p>
            <a:r>
              <a:rPr lang="en-US" dirty="0"/>
              <a:t>POLAR / GPT Attitudes Comparison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2216E4D-7237-EB40-4B74-DE68316660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2365297"/>
              </p:ext>
            </p:extLst>
          </p:nvPr>
        </p:nvGraphicFramePr>
        <p:xfrm>
          <a:off x="3864287" y="789744"/>
          <a:ext cx="8233584" cy="5897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4528">
                  <a:extLst>
                    <a:ext uri="{9D8B030D-6E8A-4147-A177-3AD203B41FA5}">
                      <a16:colId xmlns:a16="http://schemas.microsoft.com/office/drawing/2014/main" val="205828266"/>
                    </a:ext>
                  </a:extLst>
                </a:gridCol>
                <a:gridCol w="2744528">
                  <a:extLst>
                    <a:ext uri="{9D8B030D-6E8A-4147-A177-3AD203B41FA5}">
                      <a16:colId xmlns:a16="http://schemas.microsoft.com/office/drawing/2014/main" val="416087320"/>
                    </a:ext>
                  </a:extLst>
                </a:gridCol>
                <a:gridCol w="2744528">
                  <a:extLst>
                    <a:ext uri="{9D8B030D-6E8A-4147-A177-3AD203B41FA5}">
                      <a16:colId xmlns:a16="http://schemas.microsoft.com/office/drawing/2014/main" val="2419119124"/>
                    </a:ext>
                  </a:extLst>
                </a:gridCol>
              </a:tblGrid>
              <a:tr h="355102"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dirty="0"/>
                        <a:t>Topical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716059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Pair  Matching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1290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0.0787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0.0300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3152451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0.0295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0.0528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5195316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0.0429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0.0383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3365201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True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44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3541643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234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1422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5896474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Negatives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658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789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89409510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Attitude Prediction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883318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0.35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0.1591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67162684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True Positives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07478366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False Negatives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13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7040988"/>
                  </a:ext>
                </a:extLst>
              </a:tr>
              <a:tr h="355102"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Justification Overlap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796247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Overlap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0.1379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83241780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Matched Justifications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3541691"/>
                  </a:ext>
                </a:extLst>
              </a:tr>
              <a:tr h="355102">
                <a:tc>
                  <a:txBody>
                    <a:bodyPr/>
                    <a:lstStyle/>
                    <a:p>
                      <a:r>
                        <a:rPr lang="en-US" sz="1800" dirty="0"/>
                        <a:t>Total Justifications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29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19795205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118ADE4-BE0B-4A87-0A40-3FEC06C1F082}"/>
              </a:ext>
            </a:extLst>
          </p:cNvPr>
          <p:cNvSpPr txBox="1">
            <a:spLocks/>
          </p:cNvSpPr>
          <p:nvPr/>
        </p:nvSpPr>
        <p:spPr>
          <a:xfrm>
            <a:off x="677334" y="2187483"/>
            <a:ext cx="3087842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Dataset of around 400 Articles.</a:t>
            </a:r>
          </a:p>
          <a:p>
            <a:pPr marL="0" indent="0">
              <a:buNone/>
            </a:pPr>
            <a:r>
              <a:rPr lang="en-US" dirty="0"/>
              <a:t>Comparing POLAR’s fields with LLMs per-article.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Results show that the 2 Models are Very Dissimilar.</a:t>
            </a:r>
          </a:p>
        </p:txBody>
      </p:sp>
    </p:spTree>
    <p:extLst>
      <p:ext uri="{BB962C8B-B14F-4D97-AF65-F5344CB8AC3E}">
        <p14:creationId xmlns:p14="http://schemas.microsoft.com/office/powerpoint/2010/main" val="1955672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5A3D3-1F03-E7FB-44EB-57F8CDE3D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Attitude Summary</a:t>
            </a:r>
          </a:p>
        </p:txBody>
      </p:sp>
      <p:pic>
        <p:nvPicPr>
          <p:cNvPr id="4" name="Picture 3" descr="A pie chart with numbers and a few different colored circles&#10;&#10;AI-generated content may be incorrect.">
            <a:extLst>
              <a:ext uri="{FF2B5EF4-FFF2-40B4-BE49-F238E27FC236}">
                <a16:creationId xmlns:a16="http://schemas.microsoft.com/office/drawing/2014/main" id="{89839807-42A8-815E-0646-DAEF2A2A4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741" y="1129553"/>
            <a:ext cx="4834553" cy="3145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A pie chart with different colored circles&#10;&#10;AI-generated content may be incorrect.">
            <a:extLst>
              <a:ext uri="{FF2B5EF4-FFF2-40B4-BE49-F238E27FC236}">
                <a16:creationId xmlns:a16="http://schemas.microsoft.com/office/drawing/2014/main" id="{063AA9E6-A917-8325-B304-FC6EACC5FE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891" y="3806079"/>
            <a:ext cx="4836202" cy="31457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 descr="A pie chart with numbers and a few percentages&#10;&#10;AI-generated content may be incorrect.">
            <a:extLst>
              <a:ext uri="{FF2B5EF4-FFF2-40B4-BE49-F238E27FC236}">
                <a16:creationId xmlns:a16="http://schemas.microsoft.com/office/drawing/2014/main" id="{B5DA2D09-517D-5756-603C-054DF43FE7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5532" y="1264024"/>
            <a:ext cx="4619329" cy="300587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 descr="A pie chart with numbers and a few different colored circles&#10;&#10;AI-generated content may be incorrect.">
            <a:extLst>
              <a:ext uri="{FF2B5EF4-FFF2-40B4-BE49-F238E27FC236}">
                <a16:creationId xmlns:a16="http://schemas.microsoft.com/office/drawing/2014/main" id="{3F4A0F94-6017-43AA-0A23-FD0712B412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1739" y="3900571"/>
            <a:ext cx="4452154" cy="289271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2193BD-2AA6-8E4F-9F62-8F3C4EBE1BA1}"/>
              </a:ext>
            </a:extLst>
          </p:cNvPr>
          <p:cNvSpPr txBox="1"/>
          <p:nvPr/>
        </p:nvSpPr>
        <p:spPr>
          <a:xfrm>
            <a:off x="7213913" y="3900571"/>
            <a:ext cx="2066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POLAR Predictions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C8F0CE-EBFD-530C-FE5B-92CAE173054F}"/>
              </a:ext>
            </a:extLst>
          </p:cNvPr>
          <p:cNvSpPr txBox="1"/>
          <p:nvPr/>
        </p:nvSpPr>
        <p:spPr>
          <a:xfrm>
            <a:off x="1730099" y="3814612"/>
            <a:ext cx="1809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GPT Predictions</a:t>
            </a:r>
          </a:p>
        </p:txBody>
      </p:sp>
    </p:spTree>
    <p:extLst>
      <p:ext uri="{BB962C8B-B14F-4D97-AF65-F5344CB8AC3E}">
        <p14:creationId xmlns:p14="http://schemas.microsoft.com/office/powerpoint/2010/main" val="30518736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94FCE-8D8F-2A58-777F-0F046CDAF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Attitude Summary: Brexit Dataset</a:t>
            </a:r>
          </a:p>
        </p:txBody>
      </p:sp>
      <p:pic>
        <p:nvPicPr>
          <p:cNvPr id="4" name="Picture 3" descr="A pie chart with numbers and a few percentages&#10;&#10;AI-generated content may be incorrect.">
            <a:extLst>
              <a:ext uri="{FF2B5EF4-FFF2-40B4-BE49-F238E27FC236}">
                <a16:creationId xmlns:a16="http://schemas.microsoft.com/office/drawing/2014/main" id="{803AC4BB-2A6A-C4C2-11E0-3A4EEBCEE3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177" y="1150156"/>
            <a:ext cx="4510454" cy="2932963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A pie chart with numbers and a few percentages&#10;&#10;AI-generated content may be incorrect.">
            <a:extLst>
              <a:ext uri="{FF2B5EF4-FFF2-40B4-BE49-F238E27FC236}">
                <a16:creationId xmlns:a16="http://schemas.microsoft.com/office/drawing/2014/main" id="{BD1216AC-609E-1C09-9A23-4067A7B168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323" y="3768958"/>
            <a:ext cx="4498767" cy="2932963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 descr="A pie chart with numbers and a few percentages&#10;&#10;AI-generated content may be incorrect.">
            <a:extLst>
              <a:ext uri="{FF2B5EF4-FFF2-40B4-BE49-F238E27FC236}">
                <a16:creationId xmlns:a16="http://schemas.microsoft.com/office/drawing/2014/main" id="{FC5510FB-AE6C-3D8F-0C30-C2BCD1C986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6926" y="1146272"/>
            <a:ext cx="4498767" cy="293684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 descr="A pie chart with numbers and a few percentages&#10;&#10;AI-generated content may be incorrect.">
            <a:extLst>
              <a:ext uri="{FF2B5EF4-FFF2-40B4-BE49-F238E27FC236}">
                <a16:creationId xmlns:a16="http://schemas.microsoft.com/office/drawing/2014/main" id="{BCB7D640-6B7E-F587-2373-F501ED4078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5071" y="3768958"/>
            <a:ext cx="4510622" cy="2932963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ED045FA-5849-19AA-7198-B0C6115444DC}"/>
              </a:ext>
            </a:extLst>
          </p:cNvPr>
          <p:cNvSpPr txBox="1"/>
          <p:nvPr/>
        </p:nvSpPr>
        <p:spPr>
          <a:xfrm>
            <a:off x="1686637" y="3768958"/>
            <a:ext cx="1809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GPT Predictions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8F50F5-9740-B575-1504-2E3C3FDDB3A8}"/>
              </a:ext>
            </a:extLst>
          </p:cNvPr>
          <p:cNvSpPr txBox="1"/>
          <p:nvPr/>
        </p:nvSpPr>
        <p:spPr>
          <a:xfrm>
            <a:off x="7207026" y="3768958"/>
            <a:ext cx="2066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POLAR Predictions</a:t>
            </a:r>
          </a:p>
        </p:txBody>
      </p:sp>
    </p:spTree>
    <p:extLst>
      <p:ext uri="{BB962C8B-B14F-4D97-AF65-F5344CB8AC3E}">
        <p14:creationId xmlns:p14="http://schemas.microsoft.com/office/powerpoint/2010/main" val="18152597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BD8EB-8CB7-6F7E-E405-0DBE039F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Coverage: Brexit Dataset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B4CA21C-2463-E729-2BF0-A8BEDDB5883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19635816"/>
              </p:ext>
            </p:extLst>
          </p:nvPr>
        </p:nvGraphicFramePr>
        <p:xfrm>
          <a:off x="6454589" y="2393577"/>
          <a:ext cx="5293846" cy="30584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923">
                  <a:extLst>
                    <a:ext uri="{9D8B030D-6E8A-4147-A177-3AD203B41FA5}">
                      <a16:colId xmlns:a16="http://schemas.microsoft.com/office/drawing/2014/main" val="1082821828"/>
                    </a:ext>
                  </a:extLst>
                </a:gridCol>
                <a:gridCol w="2646923">
                  <a:extLst>
                    <a:ext uri="{9D8B030D-6E8A-4147-A177-3AD203B41FA5}">
                      <a16:colId xmlns:a16="http://schemas.microsoft.com/office/drawing/2014/main" val="3184040512"/>
                    </a:ext>
                  </a:extLst>
                </a:gridCol>
              </a:tblGrid>
              <a:tr h="419975">
                <a:tc>
                  <a:txBody>
                    <a:bodyPr/>
                    <a:lstStyle/>
                    <a:p>
                      <a:r>
                        <a:rPr lang="en-US" dirty="0"/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7788812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Recall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0.7294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92656006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 Positives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2235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09752879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False Negatives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829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52803879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POLAR Topics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2671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83239031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GPT Topics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2628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32941977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Unmatched POLAR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436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94063230"/>
                  </a:ext>
                </a:extLst>
              </a:tr>
              <a:tr h="3769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Unmatched GPT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393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46672818"/>
                  </a:ext>
                </a:extLst>
              </a:tr>
            </a:tbl>
          </a:graphicData>
        </a:graphic>
      </p:graphicFrame>
      <p:pic>
        <p:nvPicPr>
          <p:cNvPr id="6" name="Graphic 35">
            <a:extLst>
              <a:ext uri="{FF2B5EF4-FFF2-40B4-BE49-F238E27FC236}">
                <a16:creationId xmlns:a16="http://schemas.microsoft.com/office/drawing/2014/main" id="{160C030B-DCAA-E848-2418-08B7A93B1EA5}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3266" y="1769036"/>
            <a:ext cx="5979958" cy="4050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8359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F0D1E-0875-3C8A-F11A-8CA6A81B9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588681"/>
            <a:ext cx="8596668" cy="1039168"/>
          </a:xfrm>
        </p:spPr>
        <p:txBody>
          <a:bodyPr/>
          <a:lstStyle/>
          <a:p>
            <a:r>
              <a:rPr lang="en-US" dirty="0"/>
              <a:t>Pair Frequencies: Brexit Dataset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017124A-AE7B-F43C-75E1-0DFAEFC9E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9553280"/>
              </p:ext>
            </p:extLst>
          </p:nvPr>
        </p:nvGraphicFramePr>
        <p:xfrm>
          <a:off x="6096000" y="2368457"/>
          <a:ext cx="5517780" cy="29376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765">
                  <a:extLst>
                    <a:ext uri="{9D8B030D-6E8A-4147-A177-3AD203B41FA5}">
                      <a16:colId xmlns:a16="http://schemas.microsoft.com/office/drawing/2014/main" val="2478738259"/>
                    </a:ext>
                  </a:extLst>
                </a:gridCol>
                <a:gridCol w="1721223">
                  <a:extLst>
                    <a:ext uri="{9D8B030D-6E8A-4147-A177-3AD203B41FA5}">
                      <a16:colId xmlns:a16="http://schemas.microsoft.com/office/drawing/2014/main" val="476562832"/>
                    </a:ext>
                  </a:extLst>
                </a:gridCol>
                <a:gridCol w="1958792">
                  <a:extLst>
                    <a:ext uri="{9D8B030D-6E8A-4147-A177-3AD203B41FA5}">
                      <a16:colId xmlns:a16="http://schemas.microsoft.com/office/drawing/2014/main" val="2260818638"/>
                    </a:ext>
                  </a:extLst>
                </a:gridCol>
              </a:tblGrid>
              <a:tr h="401041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Pairs</a:t>
                      </a:r>
                      <a:endParaRPr lang="en-US" sz="1400" i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True_Attitudes</a:t>
                      </a:r>
                      <a:r>
                        <a:rPr lang="en-US" sz="1400" b="1" i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(GPT)</a:t>
                      </a:r>
                      <a:endParaRPr lang="en-US" sz="1400" i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Pred_Attitudes</a:t>
                      </a:r>
                      <a:r>
                        <a:rPr lang="en-US" sz="1400" b="1" i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(POLAR)</a:t>
                      </a:r>
                      <a:endParaRPr lang="en-US" sz="1400" i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31376383"/>
                  </a:ext>
                </a:extLst>
              </a:tr>
              <a:tr h="49213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european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union')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70 (Neg: 58, Neu: 10, Pos: 2)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20 (Neg: 6, Neu: 14, Pos: 0)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42239461"/>
                  </a:ext>
                </a:extLst>
              </a:tr>
              <a:tr h="49213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european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union', 'united kingdom') 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12 (Neg: 7, Neu: 5, Pos: 0)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PRED: 47 (Neg: 6, Neu: 34, Pos: 7)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27449617"/>
                  </a:ext>
                </a:extLst>
              </a:tr>
              <a:tr h="49213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'united kingdom')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34 (Neg: 22, Neu: 9, Pos: 3)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21 (Neg: 2, Neu: 16, Pos: 3)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69361374"/>
                  </a:ext>
                </a:extLst>
              </a:tr>
              <a:tr h="49213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barack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obama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24 (Neg: 14, Neu: 8, Pos: 2)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1 (Neg: 0, Neu: 1, Pos: 0)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31647397"/>
                  </a:ext>
                </a:extLst>
              </a:tr>
              <a:tr h="49213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'united states')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15 (Neg: 8, Neu: 4, Pos: 3)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9 (Neg: 1, Neu: 4, Pos: 4)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4230944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24C6DAA-90E3-CA3B-DDE9-8F5507D482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890033"/>
              </p:ext>
            </p:extLst>
          </p:nvPr>
        </p:nvGraphicFramePr>
        <p:xfrm>
          <a:off x="219389" y="2368457"/>
          <a:ext cx="5342724" cy="28616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0908">
                  <a:extLst>
                    <a:ext uri="{9D8B030D-6E8A-4147-A177-3AD203B41FA5}">
                      <a16:colId xmlns:a16="http://schemas.microsoft.com/office/drawing/2014/main" val="2478738259"/>
                    </a:ext>
                  </a:extLst>
                </a:gridCol>
                <a:gridCol w="1780908">
                  <a:extLst>
                    <a:ext uri="{9D8B030D-6E8A-4147-A177-3AD203B41FA5}">
                      <a16:colId xmlns:a16="http://schemas.microsoft.com/office/drawing/2014/main" val="476562832"/>
                    </a:ext>
                  </a:extLst>
                </a:gridCol>
                <a:gridCol w="1780908">
                  <a:extLst>
                    <a:ext uri="{9D8B030D-6E8A-4147-A177-3AD203B41FA5}">
                      <a16:colId xmlns:a16="http://schemas.microsoft.com/office/drawing/2014/main" val="2260818638"/>
                    </a:ext>
                  </a:extLst>
                </a:gridCol>
              </a:tblGrid>
              <a:tr h="38866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u="none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Pairs</a:t>
                      </a:r>
                      <a:endParaRPr lang="en-US" sz="1400" b="1" i="0" u="none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u="none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True_Attitudes</a:t>
                      </a:r>
                      <a:r>
                        <a:rPr lang="en-US" sz="1400" b="1" i="0" u="none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(GPT)</a:t>
                      </a:r>
                      <a:endParaRPr lang="en-US" sz="1400" b="1" i="0" u="none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i="0" u="none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Pred_Attitudes</a:t>
                      </a:r>
                      <a:r>
                        <a:rPr lang="en-US" sz="1400" b="1" i="0" u="none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(POLAR)</a:t>
                      </a:r>
                      <a:endParaRPr lang="en-US" sz="1400" b="1" i="0" u="none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31376383"/>
                  </a:ext>
                </a:extLst>
              </a:tr>
              <a:tr h="34548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european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union', 'united kingdom')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72 (Neg: 47, Neu: 18, Pos: 7)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109 (Neg: 14, Neu: 80, Pos: 15)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42239461"/>
                  </a:ext>
                </a:extLst>
              </a:tr>
              <a:tr h="34548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european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union')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7 (Neg: 7, Neu: 0, Pos: 0)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44 (Neg: 10, Neu: 24, Pos: 10)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27449617"/>
                  </a:ext>
                </a:extLst>
              </a:tr>
              <a:tr h="34548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brexit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'united kingdom')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5 (Neg: 1, Neu: 2, Pos: 2)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43 (Neg: 9, Neu: 28, Pos: 6)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69361374"/>
                  </a:ext>
                </a:extLst>
              </a:tr>
              <a:tr h="34548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('united kingdom', 'united states')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29 (Neg: 5, Neu: 6, Pos: 18)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6 (Neg: 0, Neu: 5, Pos: 1)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31647397"/>
                  </a:ext>
                </a:extLst>
              </a:tr>
              <a:tr h="34548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barack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obama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', '</a:t>
                      </a:r>
                      <a:r>
                        <a:rPr lang="en-US" sz="1400" i="1" kern="100" dirty="0" err="1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european</a:t>
                      </a: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union')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TRUE: 11 (Neg: 1, Neu: 4, Pos: 6)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PRED: 13 (Neg: 4, Neu: 6, Pos: 3)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423094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E71D5A9-8EE6-59AD-A4EF-C19644987692}"/>
              </a:ext>
            </a:extLst>
          </p:cNvPr>
          <p:cNvSpPr txBox="1"/>
          <p:nvPr/>
        </p:nvSpPr>
        <p:spPr>
          <a:xfrm>
            <a:off x="2213931" y="1981191"/>
            <a:ext cx="1353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Entity Pairs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F6B848-329B-9263-E26B-BDEA7F71003A}"/>
              </a:ext>
            </a:extLst>
          </p:cNvPr>
          <p:cNvSpPr txBox="1"/>
          <p:nvPr/>
        </p:nvSpPr>
        <p:spPr>
          <a:xfrm>
            <a:off x="8121099" y="1999125"/>
            <a:ext cx="14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Topical Pairs</a:t>
            </a:r>
          </a:p>
        </p:txBody>
      </p:sp>
    </p:spTree>
    <p:extLst>
      <p:ext uri="{BB962C8B-B14F-4D97-AF65-F5344CB8AC3E}">
        <p14:creationId xmlns:p14="http://schemas.microsoft.com/office/powerpoint/2010/main" val="16068432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1EC2C-ED1F-1B41-A39C-F02297DB4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Signed Attitude Graphs (SAG)</a:t>
            </a:r>
          </a:p>
        </p:txBody>
      </p:sp>
      <p:pic>
        <p:nvPicPr>
          <p:cNvPr id="4" name="Picture 3" descr="A network of lines and dots&#10;&#10;AI-generated content may be incorrect.">
            <a:extLst>
              <a:ext uri="{FF2B5EF4-FFF2-40B4-BE49-F238E27FC236}">
                <a16:creationId xmlns:a16="http://schemas.microsoft.com/office/drawing/2014/main" id="{D39FC287-C497-8714-D4DA-302C69269E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930400"/>
            <a:ext cx="6411475" cy="457297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A red and green lines with blue dots&#10;&#10;AI-generated content may be incorrect.">
            <a:extLst>
              <a:ext uri="{FF2B5EF4-FFF2-40B4-BE49-F238E27FC236}">
                <a16:creationId xmlns:a16="http://schemas.microsoft.com/office/drawing/2014/main" id="{0D708A62-399C-F799-2FDD-C47622161D4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8264" y="2037976"/>
            <a:ext cx="6411476" cy="457297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0681C0-B996-11ED-44FB-32EBB3F16798}"/>
              </a:ext>
            </a:extLst>
          </p:cNvPr>
          <p:cNvSpPr txBox="1"/>
          <p:nvPr/>
        </p:nvSpPr>
        <p:spPr>
          <a:xfrm>
            <a:off x="2489835" y="1707776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POLAR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4A782A-DB25-B3DD-16BD-03E6F0A1EB19}"/>
              </a:ext>
            </a:extLst>
          </p:cNvPr>
          <p:cNvSpPr txBox="1"/>
          <p:nvPr/>
        </p:nvSpPr>
        <p:spPr>
          <a:xfrm>
            <a:off x="9233647" y="1707776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GPT</a:t>
            </a:r>
          </a:p>
        </p:txBody>
      </p:sp>
    </p:spTree>
    <p:extLst>
      <p:ext uri="{BB962C8B-B14F-4D97-AF65-F5344CB8AC3E}">
        <p14:creationId xmlns:p14="http://schemas.microsoft.com/office/powerpoint/2010/main" val="23708656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ED64C-5BF3-4A56-A87B-07EAB6A54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Polarization Dipole Graph</a:t>
            </a:r>
          </a:p>
        </p:txBody>
      </p:sp>
      <p:pic>
        <p:nvPicPr>
          <p:cNvPr id="4" name="Picture 3" descr="A network of lines and dots">
            <a:extLst>
              <a:ext uri="{FF2B5EF4-FFF2-40B4-BE49-F238E27FC236}">
                <a16:creationId xmlns:a16="http://schemas.microsoft.com/office/drawing/2014/main" id="{5661B337-DFC5-8D6A-69E0-10B364EC390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2412029"/>
            <a:ext cx="5943600" cy="423926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 descr="A network of lines and dots&#10;&#10;AI-generated content may be incorrect.">
            <a:extLst>
              <a:ext uri="{FF2B5EF4-FFF2-40B4-BE49-F238E27FC236}">
                <a16:creationId xmlns:a16="http://schemas.microsoft.com/office/drawing/2014/main" id="{3986985F-9D7F-B96B-384B-EC18948C47E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98145"/>
            <a:ext cx="5943600" cy="423672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2B5C054-C7C2-4EB2-B870-CC3E2CAAC226}"/>
              </a:ext>
            </a:extLst>
          </p:cNvPr>
          <p:cNvSpPr txBox="1"/>
          <p:nvPr/>
        </p:nvSpPr>
        <p:spPr>
          <a:xfrm>
            <a:off x="2489835" y="1707776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POLAR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92377F-5A83-F5BB-EBF8-F300980BAA73}"/>
              </a:ext>
            </a:extLst>
          </p:cNvPr>
          <p:cNvSpPr txBox="1"/>
          <p:nvPr/>
        </p:nvSpPr>
        <p:spPr>
          <a:xfrm>
            <a:off x="8845839" y="1707776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GPT</a:t>
            </a:r>
          </a:p>
        </p:txBody>
      </p:sp>
    </p:spTree>
    <p:extLst>
      <p:ext uri="{BB962C8B-B14F-4D97-AF65-F5344CB8AC3E}">
        <p14:creationId xmlns:p14="http://schemas.microsoft.com/office/powerpoint/2010/main" val="30693231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018AD-80A8-D6CF-85D8-03541151B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Polarization Topics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D3E27-02B6-EC32-1DB6-846F7CDA8C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8"/>
            <a:ext cx="4190501" cy="4087811"/>
          </a:xfrm>
        </p:spPr>
        <p:txBody>
          <a:bodyPr>
            <a:normAutofit/>
          </a:bodyPr>
          <a:lstStyle/>
          <a:p>
            <a:r>
              <a:rPr lang="en-US" dirty="0"/>
              <a:t>Dipole Topics sent to LLMs to rate as Sociopolitical or not.</a:t>
            </a:r>
          </a:p>
          <a:p>
            <a:endParaRPr lang="en-US" dirty="0"/>
          </a:p>
          <a:p>
            <a:r>
              <a:rPr lang="en-US" dirty="0"/>
              <a:t>POLAR having vague dipole topics:</a:t>
            </a:r>
            <a:br>
              <a:rPr lang="en-US" dirty="0"/>
            </a:br>
            <a:r>
              <a:rPr lang="en-US" sz="1500" dirty="0"/>
              <a:t>(“Part”, “Share”, “Fact”, “Former Mayor”…)</a:t>
            </a:r>
          </a:p>
          <a:p>
            <a:endParaRPr lang="en-US" dirty="0"/>
          </a:p>
          <a:p>
            <a:r>
              <a:rPr lang="en-US" dirty="0"/>
              <a:t>GPT having less topics but more sociopolitical:</a:t>
            </a:r>
            <a:br>
              <a:rPr lang="en-US" dirty="0"/>
            </a:br>
            <a:r>
              <a:rPr lang="en-US" sz="1500" dirty="0"/>
              <a:t>(“immigration”, “globalization”, “inequality”, “global economy”…)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CBB8C9F-B7C5-AD31-A3B4-7C4DA59341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166213"/>
              </p:ext>
            </p:extLst>
          </p:nvPr>
        </p:nvGraphicFramePr>
        <p:xfrm>
          <a:off x="4975668" y="2160588"/>
          <a:ext cx="6433668" cy="3150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4556">
                  <a:extLst>
                    <a:ext uri="{9D8B030D-6E8A-4147-A177-3AD203B41FA5}">
                      <a16:colId xmlns:a16="http://schemas.microsoft.com/office/drawing/2014/main" val="1476380008"/>
                    </a:ext>
                  </a:extLst>
                </a:gridCol>
                <a:gridCol w="2144556">
                  <a:extLst>
                    <a:ext uri="{9D8B030D-6E8A-4147-A177-3AD203B41FA5}">
                      <a16:colId xmlns:a16="http://schemas.microsoft.com/office/drawing/2014/main" val="1487808004"/>
                    </a:ext>
                  </a:extLst>
                </a:gridCol>
                <a:gridCol w="2144556">
                  <a:extLst>
                    <a:ext uri="{9D8B030D-6E8A-4147-A177-3AD203B41FA5}">
                      <a16:colId xmlns:a16="http://schemas.microsoft.com/office/drawing/2014/main" val="1446051332"/>
                    </a:ext>
                  </a:extLst>
                </a:gridCol>
              </a:tblGrid>
              <a:tr h="6200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GPT Percentage of Matches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POLAR Percentage of Matches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67682596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GPT-4.0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100%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45.1%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75913312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Deepseek-V3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76.7%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40.7%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55023951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Claude-3.7 Sonnet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74.4%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29.7%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73383238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Gemini-2.0 Flash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76.7%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44.0%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95905927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Le Chat - Mistral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72.1%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31.9%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96794631"/>
                  </a:ext>
                </a:extLst>
              </a:tr>
              <a:tr h="4218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Average Overall: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i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80.0%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i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38.3%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492807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35795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5F7E3B-C5F1-40E0-A491-558BAFBC1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241804" y="1460500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9E3582D-2301-5099-7FCB-EA5FFE446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816638"/>
            <a:ext cx="3367359" cy="5224724"/>
          </a:xfrm>
        </p:spPr>
        <p:txBody>
          <a:bodyPr anchor="ctr">
            <a:norm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20C36-F21F-86D7-EAD5-F3AFD6EA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816638"/>
            <a:ext cx="4619706" cy="5224724"/>
          </a:xfrm>
        </p:spPr>
        <p:txBody>
          <a:bodyPr anchor="ctr">
            <a:normAutofit/>
          </a:bodyPr>
          <a:lstStyle/>
          <a:p>
            <a:r>
              <a:rPr lang="en-US" dirty="0"/>
              <a:t>Successfully integrated and replicated NLP Sentiment tasks of POLAR using LLMs.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Current Implementation:</a:t>
            </a:r>
            <a:endParaRPr lang="en-US" dirty="0"/>
          </a:p>
          <a:p>
            <a:r>
              <a:rPr lang="en-US" dirty="0"/>
              <a:t>Outperformed POLAR in Semantic understanding and attitude depth</a:t>
            </a:r>
          </a:p>
          <a:p>
            <a:endParaRPr lang="en-US" dirty="0"/>
          </a:p>
          <a:p>
            <a:r>
              <a:rPr lang="en-US" dirty="0"/>
              <a:t>Demonstrated that LLMs offer improvements in polarization detection</a:t>
            </a:r>
          </a:p>
          <a:p>
            <a:endParaRPr lang="en-US" dirty="0"/>
          </a:p>
          <a:p>
            <a:r>
              <a:rPr lang="en-US" dirty="0"/>
              <a:t>Showed that Open-Weight models like Mistral can be utilized as alternatives to API based LLMs</a:t>
            </a:r>
          </a:p>
        </p:txBody>
      </p:sp>
    </p:spTree>
    <p:extLst>
      <p:ext uri="{BB962C8B-B14F-4D97-AF65-F5344CB8AC3E}">
        <p14:creationId xmlns:p14="http://schemas.microsoft.com/office/powerpoint/2010/main" val="36435204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8BC73-D9AB-6B0E-1539-76D2A001F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9562" y="609600"/>
            <a:ext cx="6424440" cy="1320800"/>
          </a:xfrm>
        </p:spPr>
        <p:txBody>
          <a:bodyPr>
            <a:normAutofit/>
          </a:bodyPr>
          <a:lstStyle/>
          <a:p>
            <a:r>
              <a:rPr lang="en-US" dirty="0"/>
              <a:t>Future Work</a:t>
            </a:r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9F8803AC-EE0E-40C2-AD46-FD84FAD8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0916" y="3822970"/>
            <a:ext cx="496112" cy="2918298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Picture 4" descr="Digital financial graph">
            <a:extLst>
              <a:ext uri="{FF2B5EF4-FFF2-40B4-BE49-F238E27FC236}">
                <a16:creationId xmlns:a16="http://schemas.microsoft.com/office/drawing/2014/main" id="{8D045524-444D-FA83-054D-F8CB262606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387" r="28188"/>
          <a:stretch>
            <a:fillRect/>
          </a:stretch>
        </p:blipFill>
        <p:spPr>
          <a:xfrm>
            <a:off x="20" y="1"/>
            <a:ext cx="2734036" cy="6858000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461457" y="6858000"/>
                </a:lnTo>
                <a:lnTo>
                  <a:pt x="0" y="4134118"/>
                </a:lnTo>
                <a:close/>
              </a:path>
            </a:pathLst>
          </a:custGeom>
        </p:spPr>
      </p:pic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51A3413-562D-435C-AAE4-56808F0CB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476655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B0FA1-97A2-2E34-CBBF-B0EA66720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9562" y="2160589"/>
            <a:ext cx="6424440" cy="388077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Dataset Expansion, this thesis worked on ~800 articles per topic due to resource constraints.</a:t>
            </a:r>
            <a:endParaRPr lang="en-US"/>
          </a:p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Evaluate the model in different domains (healthcare, climate change).</a:t>
            </a:r>
            <a:endParaRPr lang="en-US"/>
          </a:p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Utilize a more dynamic Sentiment Scoring.</a:t>
            </a:r>
            <a:endParaRPr lang="en-US"/>
          </a:p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Additional Training and Evaluation of Fine-Tuning Mistral</a:t>
            </a:r>
            <a:endParaRPr lang="en-US"/>
          </a:p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Expand the datasets and logic for non-English corpora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1971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09B7E24-271E-4A3A-9D65-EE95ED972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5C59434-03B2-4F06-8362-A01DD785E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FDF3815-C9F7-4B9E-A371-DE71C4E9D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>
              <a:extLst>
                <a:ext uri="{FF2B5EF4-FFF2-40B4-BE49-F238E27FC236}">
                  <a16:creationId xmlns:a16="http://schemas.microsoft.com/office/drawing/2014/main" id="{34C30A41-6D9F-42F2-BE4A-B6D2E4400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>
              <a:extLst>
                <a:ext uri="{FF2B5EF4-FFF2-40B4-BE49-F238E27FC236}">
                  <a16:creationId xmlns:a16="http://schemas.microsoft.com/office/drawing/2014/main" id="{8577AE11-EC00-4E67-9DDD-624E9DA123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406A24DE-7A6F-4459-9A79-712243D200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>
              <a:extLst>
                <a:ext uri="{FF2B5EF4-FFF2-40B4-BE49-F238E27FC236}">
                  <a16:creationId xmlns:a16="http://schemas.microsoft.com/office/drawing/2014/main" id="{BFEBE697-7D77-4AC8-8E68-0483B47DF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>
              <a:extLst>
                <a:ext uri="{FF2B5EF4-FFF2-40B4-BE49-F238E27FC236}">
                  <a16:creationId xmlns:a16="http://schemas.microsoft.com/office/drawing/2014/main" id="{49FC7B15-C721-4A23-8F6A-2CFA77C614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>
              <a:extLst>
                <a:ext uri="{FF2B5EF4-FFF2-40B4-BE49-F238E27FC236}">
                  <a16:creationId xmlns:a16="http://schemas.microsoft.com/office/drawing/2014/main" id="{164E8ACB-FC50-451D-AF0A-879ABC6EA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>
              <a:extLst>
                <a:ext uri="{FF2B5EF4-FFF2-40B4-BE49-F238E27FC236}">
                  <a16:creationId xmlns:a16="http://schemas.microsoft.com/office/drawing/2014/main" id="{D5F354A0-F0C9-4254-A913-DD68E78161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9B01B525-8D81-44A3-BC1F-C711B89D23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53DD743-7475-69A8-C18D-77B696B42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337" y="1265314"/>
            <a:ext cx="4299666" cy="324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600"/>
              <a:t>Thank you for your Attention!</a:t>
            </a:r>
            <a:br>
              <a:rPr lang="en-US" sz="4600"/>
            </a:br>
            <a:br>
              <a:rPr lang="en-US" sz="4600"/>
            </a:br>
            <a:r>
              <a:rPr lang="en-US" sz="4600"/>
              <a:t>Do you have any Questions?</a:t>
            </a:r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ADC5C86B-28CE-4597-97B7-4C09E20141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174" y="1270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5" name="Graphic 14" descr="Questions">
            <a:extLst>
              <a:ext uri="{FF2B5EF4-FFF2-40B4-BE49-F238E27FC236}">
                <a16:creationId xmlns:a16="http://schemas.microsoft.com/office/drawing/2014/main" id="{61F2A663-218D-28A5-A390-98B49CB16B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8604" y="1550139"/>
            <a:ext cx="3765692" cy="376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288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94244-8EA7-4403-2161-330325E24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0A1D6-3B0C-3094-8485-88EF91F8B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366861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23659B44-6E34-4CE8-8F0D-387DA79968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628</TotalTime>
  <Words>1114</Words>
  <Application>Microsoft Office PowerPoint</Application>
  <PresentationFormat>Widescreen</PresentationFormat>
  <Paragraphs>305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Aptos</vt:lpstr>
      <vt:lpstr>Arial</vt:lpstr>
      <vt:lpstr>Times New Roman</vt:lpstr>
      <vt:lpstr>Trebuchet MS</vt:lpstr>
      <vt:lpstr>Wingdings 3</vt:lpstr>
      <vt:lpstr>Facet</vt:lpstr>
      <vt:lpstr>A Hybrid Approach to Polarization Detection: Replacing Traditional NLP tasks with Large Language Models</vt:lpstr>
      <vt:lpstr>Table Of Contents</vt:lpstr>
      <vt:lpstr>Introduction</vt:lpstr>
      <vt:lpstr>Real World impact of Polarization</vt:lpstr>
      <vt:lpstr>POLAR Framework</vt:lpstr>
      <vt:lpstr>POLAR Limitations</vt:lpstr>
      <vt:lpstr>Objectives</vt:lpstr>
      <vt:lpstr>Large Language Models (LLMs)</vt:lpstr>
      <vt:lpstr>PowerPoint Presentation</vt:lpstr>
      <vt:lpstr>PowerPoint Presentation</vt:lpstr>
      <vt:lpstr>LLM Integration</vt:lpstr>
      <vt:lpstr>Article Gathering</vt:lpstr>
      <vt:lpstr>LLM Communicator</vt:lpstr>
      <vt:lpstr>LLM Authenticator</vt:lpstr>
      <vt:lpstr>PowerPoint Presentation</vt:lpstr>
      <vt:lpstr>Evaluation</vt:lpstr>
      <vt:lpstr>Metrics Used</vt:lpstr>
      <vt:lpstr>Results &amp; Analysis</vt:lpstr>
      <vt:lpstr>Mistral Attitudes Comparison</vt:lpstr>
      <vt:lpstr>Mistral Usage Conclusion</vt:lpstr>
      <vt:lpstr>POLAR / GPT Attitudes Comparison</vt:lpstr>
      <vt:lpstr>Overall Attitude Summary</vt:lpstr>
      <vt:lpstr>Attitude Summary: Brexit Dataset</vt:lpstr>
      <vt:lpstr>Topics Coverage: Brexit Dataset</vt:lpstr>
      <vt:lpstr>Pair Frequencies: Brexit Dataset</vt:lpstr>
      <vt:lpstr>Signed Attitude Graphs (SAG)</vt:lpstr>
      <vt:lpstr>Polarization Dipole Graph</vt:lpstr>
      <vt:lpstr>Polarization Topics Analysis</vt:lpstr>
      <vt:lpstr>Conclusion</vt:lpstr>
      <vt:lpstr>Future Work</vt:lpstr>
      <vt:lpstr>Thank you for your Attention!  Do you have any Questions?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Alexandros Modestou</dc:creator>
  <cp:lastModifiedBy>Alexandros Modestou</cp:lastModifiedBy>
  <cp:revision>55</cp:revision>
  <dcterms:created xsi:type="dcterms:W3CDTF">2025-05-23T17:49:49Z</dcterms:created>
  <dcterms:modified xsi:type="dcterms:W3CDTF">2025-05-24T21:55:30Z</dcterms:modified>
</cp:coreProperties>
</file>